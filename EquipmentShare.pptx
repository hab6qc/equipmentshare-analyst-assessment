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Figtree"/>
      <p:regular r:id="rId19"/>
      <p:bold r:id="rId20"/>
      <p:italic r:id="rId21"/>
      <p:boldItalic r:id="rId22"/>
    </p:embeddedFont>
    <p:embeddedFont>
      <p:font typeface="Jost Light"/>
      <p:regular r:id="rId23"/>
      <p:bold r:id="rId24"/>
      <p:italic r:id="rId25"/>
      <p:boldItalic r:id="rId26"/>
    </p:embeddedFont>
    <p:embeddedFont>
      <p:font typeface="Figtree Medium"/>
      <p:regular r:id="rId27"/>
      <p:bold r:id="rId28"/>
      <p:italic r:id="rId29"/>
      <p:boldItalic r:id="rId30"/>
    </p:embeddedFont>
    <p:embeddedFont>
      <p:font typeface="Figtree Light"/>
      <p:regular r:id="rId31"/>
      <p:bold r:id="rId32"/>
      <p:italic r:id="rId33"/>
      <p:boldItalic r:id="rId34"/>
    </p:embeddedFont>
    <p:embeddedFont>
      <p:font typeface="Jos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gtree-bold.fntdata"/><Relationship Id="rId22" Type="http://schemas.openxmlformats.org/officeDocument/2006/relationships/font" Target="fonts/Figtree-boldItalic.fntdata"/><Relationship Id="rId21" Type="http://schemas.openxmlformats.org/officeDocument/2006/relationships/font" Target="fonts/Figtree-italic.fntdata"/><Relationship Id="rId24" Type="http://schemas.openxmlformats.org/officeDocument/2006/relationships/font" Target="fonts/JostLight-bold.fntdata"/><Relationship Id="rId23" Type="http://schemas.openxmlformats.org/officeDocument/2006/relationships/font" Target="fonts/JostLigh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JostLight-boldItalic.fntdata"/><Relationship Id="rId25" Type="http://schemas.openxmlformats.org/officeDocument/2006/relationships/font" Target="fonts/JostLight-italic.fntdata"/><Relationship Id="rId28" Type="http://schemas.openxmlformats.org/officeDocument/2006/relationships/font" Target="fonts/FigtreeMedium-bold.fntdata"/><Relationship Id="rId27" Type="http://schemas.openxmlformats.org/officeDocument/2006/relationships/font" Target="fonts/FigtreeMedium-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FigtreeMedium-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gtreeLight-regular.fntdata"/><Relationship Id="rId30" Type="http://schemas.openxmlformats.org/officeDocument/2006/relationships/font" Target="fonts/FigtreeMedium-boldItalic.fntdata"/><Relationship Id="rId11" Type="http://schemas.openxmlformats.org/officeDocument/2006/relationships/slide" Target="slides/slide5.xml"/><Relationship Id="rId33" Type="http://schemas.openxmlformats.org/officeDocument/2006/relationships/font" Target="fonts/FigtreeLight-italic.fntdata"/><Relationship Id="rId10" Type="http://schemas.openxmlformats.org/officeDocument/2006/relationships/slide" Target="slides/slide4.xml"/><Relationship Id="rId32" Type="http://schemas.openxmlformats.org/officeDocument/2006/relationships/font" Target="fonts/FigtreeLight-bold.fntdata"/><Relationship Id="rId13" Type="http://schemas.openxmlformats.org/officeDocument/2006/relationships/slide" Target="slides/slide7.xml"/><Relationship Id="rId35" Type="http://schemas.openxmlformats.org/officeDocument/2006/relationships/font" Target="fonts/Jost-regular.fntdata"/><Relationship Id="rId12" Type="http://schemas.openxmlformats.org/officeDocument/2006/relationships/slide" Target="slides/slide6.xml"/><Relationship Id="rId34" Type="http://schemas.openxmlformats.org/officeDocument/2006/relationships/font" Target="fonts/FigtreeLight-boldItalic.fntdata"/><Relationship Id="rId15" Type="http://schemas.openxmlformats.org/officeDocument/2006/relationships/slide" Target="slides/slide9.xml"/><Relationship Id="rId37" Type="http://schemas.openxmlformats.org/officeDocument/2006/relationships/font" Target="fonts/Jost-italic.fntdata"/><Relationship Id="rId14" Type="http://schemas.openxmlformats.org/officeDocument/2006/relationships/slide" Target="slides/slide8.xml"/><Relationship Id="rId36" Type="http://schemas.openxmlformats.org/officeDocument/2006/relationships/font" Target="fonts/Jost-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Jost-boldItalic.fntdata"/><Relationship Id="rId19" Type="http://schemas.openxmlformats.org/officeDocument/2006/relationships/font" Target="fonts/Figtree-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e753fcad50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e753fcad50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e753fcad50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e753fcad50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e753fcad50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e753fcad50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want to know what mix leads to the highest revenue, what mix leads to the best financial utilization, and where we should allocate our capital in the future for existing and new markets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e753fcad50_0_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e753fcad50_0_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e753fcad50_0_1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e753fcad50_0_1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e753fcad50_0_1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e753fcad50_0_1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Stacked bar chart by market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753fcad50_0_1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e753fcad50_0_1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ead3362cb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ead3362cb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ad3362cb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ead3362cb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ead3362cb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ead3362cb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e753fcad50_0_1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e753fcad50_0_1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e753fcad50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e753fcad50_0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55" name="Shape 55"/>
        <p:cNvGrpSpPr/>
        <p:nvPr/>
      </p:nvGrpSpPr>
      <p:grpSpPr>
        <a:xfrm>
          <a:off x="0" y="0"/>
          <a:ext cx="0" cy="0"/>
          <a:chOff x="0" y="0"/>
          <a:chExt cx="0" cy="0"/>
        </a:xfrm>
      </p:grpSpPr>
      <p:pic>
        <p:nvPicPr>
          <p:cNvPr id="56" name="Google Shape;56;p14"/>
          <p:cNvPicPr preferRelativeResize="0"/>
          <p:nvPr/>
        </p:nvPicPr>
        <p:blipFill>
          <a:blip r:embed="rId2">
            <a:alphaModFix/>
          </a:blip>
          <a:stretch>
            <a:fillRect/>
          </a:stretch>
        </p:blipFill>
        <p:spPr>
          <a:xfrm>
            <a:off x="0" y="0"/>
            <a:ext cx="9144003" cy="5143501"/>
          </a:xfrm>
          <a:prstGeom prst="rect">
            <a:avLst/>
          </a:prstGeom>
          <a:noFill/>
          <a:ln>
            <a:noFill/>
          </a:ln>
        </p:spPr>
      </p:pic>
      <p:sp>
        <p:nvSpPr>
          <p:cNvPr id="57" name="Google Shape;57;p14"/>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8" name="Google Shape;58;p14"/>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59" name="Google Shape;59;p14"/>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60" name="Google Shape;60;p14"/>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61" name="Shape 61"/>
        <p:cNvGrpSpPr/>
        <p:nvPr/>
      </p:nvGrpSpPr>
      <p:grpSpPr>
        <a:xfrm>
          <a:off x="0" y="0"/>
          <a:ext cx="0" cy="0"/>
          <a:chOff x="0" y="0"/>
          <a:chExt cx="0" cy="0"/>
        </a:xfrm>
      </p:grpSpPr>
      <p:sp>
        <p:nvSpPr>
          <p:cNvPr id="62" name="Google Shape;62;p15"/>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3" name="Google Shape;63;p15"/>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4" name="Google Shape;64;p15"/>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5" name="Google Shape;65;p15"/>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66" name="Google Shape;66;p15"/>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7" name="Google Shape;67;p15"/>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8" name="Google Shape;68;p15"/>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9" name="Google Shape;69;p15"/>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0" name="Google Shape;70;p15"/>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1" name="Google Shape;71;p15"/>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2" name="Google Shape;72;p15"/>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3" name="Google Shape;73;p15"/>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74" name="Google Shape;74;p15"/>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5" name="Google Shape;75;p15"/>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6" name="Google Shape;76;p15"/>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7" name="Google Shape;77;p15"/>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8" name="Google Shape;78;p15"/>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79" name="Shape 79"/>
        <p:cNvGrpSpPr/>
        <p:nvPr/>
      </p:nvGrpSpPr>
      <p:grpSpPr>
        <a:xfrm>
          <a:off x="0" y="0"/>
          <a:ext cx="0" cy="0"/>
          <a:chOff x="0" y="0"/>
          <a:chExt cx="0" cy="0"/>
        </a:xfrm>
      </p:grpSpPr>
      <p:sp>
        <p:nvSpPr>
          <p:cNvPr id="80" name="Google Shape;80;p16"/>
          <p:cNvSpPr/>
          <p:nvPr>
            <p:ph idx="2" type="pic"/>
          </p:nvPr>
        </p:nvSpPr>
        <p:spPr>
          <a:xfrm>
            <a:off x="0" y="-9000"/>
            <a:ext cx="3054300" cy="3252900"/>
          </a:xfrm>
          <a:prstGeom prst="rect">
            <a:avLst/>
          </a:prstGeom>
          <a:noFill/>
          <a:ln>
            <a:noFill/>
          </a:ln>
        </p:spPr>
      </p:sp>
      <p:sp>
        <p:nvSpPr>
          <p:cNvPr id="81" name="Google Shape;81;p16"/>
          <p:cNvSpPr/>
          <p:nvPr>
            <p:ph idx="3" type="pic"/>
          </p:nvPr>
        </p:nvSpPr>
        <p:spPr>
          <a:xfrm>
            <a:off x="3044117" y="-9000"/>
            <a:ext cx="3054300" cy="3252900"/>
          </a:xfrm>
          <a:prstGeom prst="rect">
            <a:avLst/>
          </a:prstGeom>
          <a:noFill/>
          <a:ln>
            <a:noFill/>
          </a:ln>
        </p:spPr>
      </p:sp>
      <p:sp>
        <p:nvSpPr>
          <p:cNvPr id="82" name="Google Shape;82;p16"/>
          <p:cNvSpPr/>
          <p:nvPr>
            <p:ph idx="4" type="pic"/>
          </p:nvPr>
        </p:nvSpPr>
        <p:spPr>
          <a:xfrm>
            <a:off x="6088233" y="-9000"/>
            <a:ext cx="3054300" cy="3252900"/>
          </a:xfrm>
          <a:prstGeom prst="rect">
            <a:avLst/>
          </a:prstGeom>
          <a:noFill/>
          <a:ln>
            <a:noFill/>
          </a:ln>
        </p:spPr>
      </p:sp>
      <p:sp>
        <p:nvSpPr>
          <p:cNvPr id="83" name="Google Shape;83;p16"/>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4" name="Google Shape;84;p16"/>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5" name="Google Shape;85;p16"/>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86" name="Google Shape;86;p16"/>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87" name="Google Shape;87;p16"/>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8" name="Google Shape;88;p16"/>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89" name="Google Shape;89;p16"/>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0" name="Google Shape;90;p16"/>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1" name="Google Shape;91;p16"/>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92" name="Shape 92"/>
        <p:cNvGrpSpPr/>
        <p:nvPr/>
      </p:nvGrpSpPr>
      <p:grpSpPr>
        <a:xfrm>
          <a:off x="0" y="0"/>
          <a:ext cx="0" cy="0"/>
          <a:chOff x="0" y="0"/>
          <a:chExt cx="0" cy="0"/>
        </a:xfrm>
      </p:grpSpPr>
      <p:sp>
        <p:nvSpPr>
          <p:cNvPr id="93" name="Google Shape;93;p17"/>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94" name="Google Shape;94;p1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5" name="Google Shape;95;p1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6" name="Google Shape;96;p17"/>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97" name="Google Shape;97;p17"/>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8" name="Google Shape;98;p17"/>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99" name="Google Shape;99;p17"/>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0" name="Google Shape;100;p17"/>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101" name="Google Shape;101;p17"/>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2" name="Google Shape;102;p17"/>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3" name="Google Shape;103;p17"/>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4" name="Google Shape;104;p17"/>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5" name="Google Shape;105;p17"/>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6" name="Google Shape;106;p17"/>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7" name="Google Shape;107;p17"/>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8" name="Google Shape;108;p17"/>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9" name="Google Shape;109;p17"/>
          <p:cNvSpPr/>
          <p:nvPr>
            <p:ph idx="19" type="pic"/>
          </p:nvPr>
        </p:nvSpPr>
        <p:spPr>
          <a:xfrm>
            <a:off x="1726022" y="1991825"/>
            <a:ext cx="1288500" cy="1363800"/>
          </a:xfrm>
          <a:prstGeom prst="roundRect">
            <a:avLst>
              <a:gd fmla="val 6764" name="adj"/>
            </a:avLst>
          </a:prstGeom>
          <a:noFill/>
          <a:ln>
            <a:noFill/>
          </a:ln>
        </p:spPr>
      </p:sp>
      <p:sp>
        <p:nvSpPr>
          <p:cNvPr id="110" name="Google Shape;110;p17"/>
          <p:cNvSpPr/>
          <p:nvPr>
            <p:ph idx="20" type="pic"/>
          </p:nvPr>
        </p:nvSpPr>
        <p:spPr>
          <a:xfrm>
            <a:off x="3194345" y="1991825"/>
            <a:ext cx="1288500" cy="1363800"/>
          </a:xfrm>
          <a:prstGeom prst="roundRect">
            <a:avLst>
              <a:gd fmla="val 6764" name="adj"/>
            </a:avLst>
          </a:prstGeom>
          <a:noFill/>
          <a:ln>
            <a:noFill/>
          </a:ln>
        </p:spPr>
      </p:sp>
      <p:sp>
        <p:nvSpPr>
          <p:cNvPr id="111" name="Google Shape;111;p17"/>
          <p:cNvSpPr/>
          <p:nvPr>
            <p:ph idx="21" type="pic"/>
          </p:nvPr>
        </p:nvSpPr>
        <p:spPr>
          <a:xfrm>
            <a:off x="4662668" y="1991825"/>
            <a:ext cx="1288500" cy="1363800"/>
          </a:xfrm>
          <a:prstGeom prst="roundRect">
            <a:avLst>
              <a:gd fmla="val 6764" name="adj"/>
            </a:avLst>
          </a:prstGeom>
          <a:noFill/>
          <a:ln>
            <a:noFill/>
          </a:ln>
        </p:spPr>
      </p:sp>
      <p:sp>
        <p:nvSpPr>
          <p:cNvPr id="112" name="Google Shape;112;p17"/>
          <p:cNvSpPr/>
          <p:nvPr>
            <p:ph idx="22" type="pic"/>
          </p:nvPr>
        </p:nvSpPr>
        <p:spPr>
          <a:xfrm>
            <a:off x="6130990" y="1991825"/>
            <a:ext cx="1288500" cy="1363800"/>
          </a:xfrm>
          <a:prstGeom prst="roundRect">
            <a:avLst>
              <a:gd fmla="val 6764" name="adj"/>
            </a:avLst>
          </a:prstGeom>
          <a:noFill/>
          <a:ln>
            <a:noFill/>
          </a:ln>
        </p:spPr>
      </p:sp>
      <p:sp>
        <p:nvSpPr>
          <p:cNvPr id="113" name="Google Shape;113;p17"/>
          <p:cNvSpPr/>
          <p:nvPr>
            <p:ph idx="23" type="pic"/>
          </p:nvPr>
        </p:nvSpPr>
        <p:spPr>
          <a:xfrm>
            <a:off x="7599313" y="1991825"/>
            <a:ext cx="1288500" cy="1363800"/>
          </a:xfrm>
          <a:prstGeom prst="roundRect">
            <a:avLst>
              <a:gd fmla="val 6764" name="adj"/>
            </a:avLst>
          </a:prstGeom>
          <a:noFill/>
          <a:ln>
            <a:noFill/>
          </a:ln>
        </p:spPr>
      </p:sp>
      <p:sp>
        <p:nvSpPr>
          <p:cNvPr id="114" name="Google Shape;114;p17"/>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115" name="Shape 115"/>
        <p:cNvGrpSpPr/>
        <p:nvPr/>
      </p:nvGrpSpPr>
      <p:grpSpPr>
        <a:xfrm>
          <a:off x="0" y="0"/>
          <a:ext cx="0" cy="0"/>
          <a:chOff x="0" y="0"/>
          <a:chExt cx="0" cy="0"/>
        </a:xfrm>
      </p:grpSpPr>
      <p:sp>
        <p:nvSpPr>
          <p:cNvPr id="116" name="Google Shape;116;p1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7" name="Google Shape;117;p1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8" name="Google Shape;118;p18"/>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119" name="Shape 119"/>
        <p:cNvGrpSpPr/>
        <p:nvPr/>
      </p:nvGrpSpPr>
      <p:grpSpPr>
        <a:xfrm>
          <a:off x="0" y="0"/>
          <a:ext cx="0" cy="0"/>
          <a:chOff x="0" y="0"/>
          <a:chExt cx="0" cy="0"/>
        </a:xfrm>
      </p:grpSpPr>
      <p:sp>
        <p:nvSpPr>
          <p:cNvPr id="120" name="Google Shape;120;p19"/>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1" name="Google Shape;121;p1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22" name="Google Shape;122;p19"/>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123" name="Google Shape;123;p19"/>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124" name="Google Shape;124;p19"/>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125" name="Google Shape;125;p19"/>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126" name="Shape 126"/>
        <p:cNvGrpSpPr/>
        <p:nvPr/>
      </p:nvGrpSpPr>
      <p:grpSpPr>
        <a:xfrm>
          <a:off x="0" y="0"/>
          <a:ext cx="0" cy="0"/>
          <a:chOff x="0" y="0"/>
          <a:chExt cx="0" cy="0"/>
        </a:xfrm>
      </p:grpSpPr>
      <p:sp>
        <p:nvSpPr>
          <p:cNvPr id="127" name="Google Shape;127;p2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8" name="Google Shape;128;p20"/>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9" name="Google Shape;129;p20"/>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130" name="Google Shape;130;p2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1" name="Google Shape;131;p2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2" name="Google Shape;132;p20"/>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33" name="Google Shape;133;p20"/>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34" name="Google Shape;134;p20"/>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35" name="Google Shape;135;p20"/>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136" name="Shape 136"/>
        <p:cNvGrpSpPr/>
        <p:nvPr/>
      </p:nvGrpSpPr>
      <p:grpSpPr>
        <a:xfrm>
          <a:off x="0" y="0"/>
          <a:ext cx="0" cy="0"/>
          <a:chOff x="0" y="0"/>
          <a:chExt cx="0" cy="0"/>
        </a:xfrm>
      </p:grpSpPr>
      <p:sp>
        <p:nvSpPr>
          <p:cNvPr id="137" name="Google Shape;137;p21"/>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8" name="Google Shape;138;p21"/>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9" name="Google Shape;139;p21"/>
          <p:cNvSpPr/>
          <p:nvPr>
            <p:ph idx="2" type="pic"/>
          </p:nvPr>
        </p:nvSpPr>
        <p:spPr>
          <a:xfrm>
            <a:off x="0" y="-9000"/>
            <a:ext cx="3054300" cy="3252900"/>
          </a:xfrm>
          <a:prstGeom prst="rect">
            <a:avLst/>
          </a:prstGeom>
          <a:noFill/>
          <a:ln>
            <a:noFill/>
          </a:ln>
        </p:spPr>
      </p:sp>
      <p:sp>
        <p:nvSpPr>
          <p:cNvPr id="140" name="Google Shape;140;p21"/>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141" name="Google Shape;141;p2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2" name="Google Shape;142;p21"/>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3" name="Google Shape;143;p21"/>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4" name="Google Shape;144;p21"/>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45" name="Google Shape;145;p21"/>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46" name="Shape 146"/>
        <p:cNvGrpSpPr/>
        <p:nvPr/>
      </p:nvGrpSpPr>
      <p:grpSpPr>
        <a:xfrm>
          <a:off x="0" y="0"/>
          <a:ext cx="0" cy="0"/>
          <a:chOff x="0" y="0"/>
          <a:chExt cx="0" cy="0"/>
        </a:xfrm>
      </p:grpSpPr>
      <p:sp>
        <p:nvSpPr>
          <p:cNvPr id="147" name="Google Shape;147;p22"/>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48" name="Google Shape;148;p22"/>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49" name="Google Shape;149;p2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0" name="Google Shape;150;p2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1" name="Google Shape;151;p22"/>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52" name="Google Shape;152;p22"/>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53" name="Google Shape;153;p22"/>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4" name="Google Shape;154;p22"/>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55" name="Shape 155"/>
        <p:cNvGrpSpPr/>
        <p:nvPr/>
      </p:nvGrpSpPr>
      <p:grpSpPr>
        <a:xfrm>
          <a:off x="0" y="0"/>
          <a:ext cx="0" cy="0"/>
          <a:chOff x="0" y="0"/>
          <a:chExt cx="0" cy="0"/>
        </a:xfrm>
      </p:grpSpPr>
      <p:sp>
        <p:nvSpPr>
          <p:cNvPr id="156" name="Google Shape;156;p23"/>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57" name="Google Shape;157;p23"/>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58" name="Google Shape;158;p2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9" name="Google Shape;159;p2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60" name="Google Shape;160;p23"/>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161" name="Google Shape;161;p23"/>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62" name="Shape 162"/>
        <p:cNvGrpSpPr/>
        <p:nvPr/>
      </p:nvGrpSpPr>
      <p:grpSpPr>
        <a:xfrm>
          <a:off x="0" y="0"/>
          <a:ext cx="0" cy="0"/>
          <a:chOff x="0" y="0"/>
          <a:chExt cx="0" cy="0"/>
        </a:xfrm>
      </p:grpSpPr>
      <p:sp>
        <p:nvSpPr>
          <p:cNvPr id="163" name="Google Shape;163;p2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64" name="Google Shape;164;p2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65" name="Google Shape;165;p2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66" name="Google Shape;166;p24"/>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7" name="Google Shape;167;p24"/>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8" name="Google Shape;168;p24"/>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9" name="Google Shape;169;p24"/>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70" name="Google Shape;170;p24"/>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71" name="Google Shape;171;p24"/>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2" name="Google Shape;172;p24"/>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3" name="Google Shape;173;p24"/>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4" name="Google Shape;174;p24"/>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5" name="Google Shape;175;p24"/>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76" name="Shape 176"/>
        <p:cNvGrpSpPr/>
        <p:nvPr/>
      </p:nvGrpSpPr>
      <p:grpSpPr>
        <a:xfrm>
          <a:off x="0" y="0"/>
          <a:ext cx="0" cy="0"/>
          <a:chOff x="0" y="0"/>
          <a:chExt cx="0" cy="0"/>
        </a:xfrm>
      </p:grpSpPr>
      <p:sp>
        <p:nvSpPr>
          <p:cNvPr id="177" name="Google Shape;177;p25"/>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8" name="Google Shape;178;p25"/>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9" name="Google Shape;179;p25"/>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0" name="Google Shape;180;p25"/>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1" name="Google Shape;181;p2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2" name="Google Shape;182;p25"/>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3" name="Google Shape;183;p25"/>
          <p:cNvSpPr/>
          <p:nvPr>
            <p:ph idx="4" type="pic"/>
          </p:nvPr>
        </p:nvSpPr>
        <p:spPr>
          <a:xfrm>
            <a:off x="230075" y="457200"/>
            <a:ext cx="3681600" cy="2309700"/>
          </a:xfrm>
          <a:prstGeom prst="rect">
            <a:avLst/>
          </a:prstGeom>
          <a:noFill/>
          <a:ln>
            <a:noFill/>
          </a:ln>
        </p:spPr>
      </p:sp>
      <p:sp>
        <p:nvSpPr>
          <p:cNvPr id="184" name="Google Shape;184;p25"/>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85" name="Google Shape;185;p25"/>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6" name="Google Shape;186;p25"/>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7" name="Google Shape;187;p25"/>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8" name="Google Shape;188;p25"/>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9" name="Google Shape;189;p25"/>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90" name="Shape 190"/>
        <p:cNvGrpSpPr/>
        <p:nvPr/>
      </p:nvGrpSpPr>
      <p:grpSpPr>
        <a:xfrm>
          <a:off x="0" y="0"/>
          <a:ext cx="0" cy="0"/>
          <a:chOff x="0" y="0"/>
          <a:chExt cx="0" cy="0"/>
        </a:xfrm>
      </p:grpSpPr>
      <p:sp>
        <p:nvSpPr>
          <p:cNvPr id="191" name="Google Shape;191;p2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2" name="Google Shape;192;p2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3" name="Google Shape;193;p26"/>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94" name="Google Shape;194;p26"/>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95" name="Google Shape;195;p26"/>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96" name="Google Shape;196;p26"/>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97" name="Shape 197"/>
        <p:cNvGrpSpPr/>
        <p:nvPr/>
      </p:nvGrpSpPr>
      <p:grpSpPr>
        <a:xfrm>
          <a:off x="0" y="0"/>
          <a:ext cx="0" cy="0"/>
          <a:chOff x="0" y="0"/>
          <a:chExt cx="0" cy="0"/>
        </a:xfrm>
      </p:grpSpPr>
      <p:sp>
        <p:nvSpPr>
          <p:cNvPr id="198" name="Google Shape;198;p2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9" name="Google Shape;199;p2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00" name="Google Shape;200;p27"/>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1" name="Google Shape;201;p27"/>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2" name="Google Shape;202;p27"/>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3" name="Google Shape;203;p27"/>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4" name="Google Shape;204;p27"/>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5" name="Google Shape;205;p27"/>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6" name="Google Shape;206;p27"/>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7" name="Google Shape;207;p27"/>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8" name="Google Shape;208;p27"/>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9" name="Google Shape;209;p27"/>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0" name="Google Shape;210;p27"/>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11" name="Google Shape;211;p27"/>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12" name="Google Shape;212;p27"/>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213" name="Shape 213"/>
        <p:cNvGrpSpPr/>
        <p:nvPr/>
      </p:nvGrpSpPr>
      <p:grpSpPr>
        <a:xfrm>
          <a:off x="0" y="0"/>
          <a:ext cx="0" cy="0"/>
          <a:chOff x="0" y="0"/>
          <a:chExt cx="0" cy="0"/>
        </a:xfrm>
      </p:grpSpPr>
      <p:sp>
        <p:nvSpPr>
          <p:cNvPr id="214" name="Google Shape;214;p28"/>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5" name="Google Shape;215;p2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6" name="Google Shape;216;p2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7" name="Google Shape;217;p28"/>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18" name="Google Shape;218;p28"/>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9" name="Google Shape;219;p28"/>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20" name="Google Shape;220;p28"/>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21" name="Google Shape;221;p28"/>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222" name="Shape 222"/>
        <p:cNvGrpSpPr/>
        <p:nvPr/>
      </p:nvGrpSpPr>
      <p:grpSpPr>
        <a:xfrm>
          <a:off x="0" y="0"/>
          <a:ext cx="0" cy="0"/>
          <a:chOff x="0" y="0"/>
          <a:chExt cx="0" cy="0"/>
        </a:xfrm>
      </p:grpSpPr>
      <p:sp>
        <p:nvSpPr>
          <p:cNvPr id="223" name="Google Shape;223;p29"/>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24" name="Google Shape;224;p29"/>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225" name="Google Shape;225;p2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26" name="Google Shape;226;p2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27" name="Google Shape;227;p29"/>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28" name="Google Shape;228;p29"/>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9" name="Google Shape;229;p29"/>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0" name="Google Shape;230;p29"/>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1" name="Google Shape;231;p29"/>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2" name="Google Shape;232;p29"/>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3" name="Google Shape;233;p29"/>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4" name="Google Shape;234;p29"/>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5" name="Google Shape;235;p29"/>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6" name="Google Shape;236;p29"/>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7" name="Google Shape;237;p29"/>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238" name="Google Shape;238;p29"/>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239" name="Shape 239"/>
        <p:cNvGrpSpPr/>
        <p:nvPr/>
      </p:nvGrpSpPr>
      <p:grpSpPr>
        <a:xfrm>
          <a:off x="0" y="0"/>
          <a:ext cx="0" cy="0"/>
          <a:chOff x="0" y="0"/>
          <a:chExt cx="0" cy="0"/>
        </a:xfrm>
      </p:grpSpPr>
      <p:sp>
        <p:nvSpPr>
          <p:cNvPr id="240" name="Google Shape;240;p30"/>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41" name="Google Shape;241;p3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2" name="Google Shape;242;p3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3" name="Google Shape;243;p30"/>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44" name="Google Shape;244;p30"/>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5" name="Google Shape;245;p30"/>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46" name="Google Shape;246;p30"/>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7" name="Google Shape;247;p30"/>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48" name="Google Shape;248;p30"/>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9" name="Google Shape;249;p30"/>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50" name="Google Shape;250;p30"/>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1" name="Google Shape;251;p30"/>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52" name="Shape 252"/>
        <p:cNvGrpSpPr/>
        <p:nvPr/>
      </p:nvGrpSpPr>
      <p:grpSpPr>
        <a:xfrm>
          <a:off x="0" y="0"/>
          <a:ext cx="0" cy="0"/>
          <a:chOff x="0" y="0"/>
          <a:chExt cx="0" cy="0"/>
        </a:xfrm>
      </p:grpSpPr>
      <p:sp>
        <p:nvSpPr>
          <p:cNvPr id="253" name="Google Shape;253;p31"/>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54" name="Google Shape;254;p3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5" name="Google Shape;255;p3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6" name="Google Shape;256;p31"/>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7" name="Google Shape;257;p31"/>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8" name="Google Shape;258;p31"/>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9" name="Google Shape;259;p31"/>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60" name="Google Shape;260;p31"/>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1" name="Google Shape;261;p31"/>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2" name="Google Shape;262;p31"/>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3" name="Google Shape;263;p31"/>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4" name="Google Shape;264;p31"/>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5" name="Google Shape;265;p31"/>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66" name="Shape 266"/>
        <p:cNvGrpSpPr/>
        <p:nvPr/>
      </p:nvGrpSpPr>
      <p:grpSpPr>
        <a:xfrm>
          <a:off x="0" y="0"/>
          <a:ext cx="0" cy="0"/>
          <a:chOff x="0" y="0"/>
          <a:chExt cx="0" cy="0"/>
        </a:xfrm>
      </p:grpSpPr>
      <p:sp>
        <p:nvSpPr>
          <p:cNvPr id="267" name="Google Shape;267;p32"/>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68" name="Google Shape;268;p32"/>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269" name="Google Shape;269;p32"/>
          <p:cNvPicPr preferRelativeResize="0"/>
          <p:nvPr/>
        </p:nvPicPr>
        <p:blipFill rotWithShape="1">
          <a:blip r:embed="rId2">
            <a:alphaModFix/>
          </a:blip>
          <a:srcRect b="14407" l="0" r="0" t="14414"/>
          <a:stretch/>
        </p:blipFill>
        <p:spPr>
          <a:xfrm>
            <a:off x="2517525" y="1875150"/>
            <a:ext cx="2822973" cy="1350004"/>
          </a:xfrm>
          <a:prstGeom prst="rect">
            <a:avLst/>
          </a:prstGeom>
          <a:noFill/>
          <a:ln>
            <a:noFill/>
          </a:ln>
        </p:spPr>
      </p:pic>
      <p:sp>
        <p:nvSpPr>
          <p:cNvPr id="270" name="Google Shape;270;p32"/>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1" name="Google Shape;271;p32"/>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2" name="Google Shape;272;p32"/>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3" name="Google Shape;273;p32"/>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4" name="Google Shape;274;p32"/>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5" name="Google Shape;275;p32"/>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6" name="Google Shape;276;p32"/>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7" name="Google Shape;277;p32"/>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8" name="Google Shape;278;p32"/>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9" name="Google Shape;279;p32"/>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80" name="Google Shape;280;p32"/>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81" name="Google Shape;281;p32"/>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82" name="Google Shape;282;p3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83" name="Google Shape;283;p32"/>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84" name="Google Shape;284;p32"/>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85" name="Shape 285"/>
        <p:cNvGrpSpPr/>
        <p:nvPr/>
      </p:nvGrpSpPr>
      <p:grpSpPr>
        <a:xfrm>
          <a:off x="0" y="0"/>
          <a:ext cx="0" cy="0"/>
          <a:chOff x="0" y="0"/>
          <a:chExt cx="0" cy="0"/>
        </a:xfrm>
      </p:grpSpPr>
      <p:sp>
        <p:nvSpPr>
          <p:cNvPr id="286" name="Google Shape;286;p33"/>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87" name="Google Shape;287;p33"/>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88" name="Google Shape;288;p3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89" name="Google Shape;289;p3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0" name="Google Shape;290;p3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1" name="Google Shape;291;p33"/>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2" name="Google Shape;292;p33"/>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93" name="Google Shape;293;p33"/>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4" name="Google Shape;294;p33"/>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95" name="Google Shape;295;p33"/>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6" name="Google Shape;296;p33"/>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97" name="Shape 297"/>
        <p:cNvGrpSpPr/>
        <p:nvPr/>
      </p:nvGrpSpPr>
      <p:grpSpPr>
        <a:xfrm>
          <a:off x="0" y="0"/>
          <a:ext cx="0" cy="0"/>
          <a:chOff x="0" y="0"/>
          <a:chExt cx="0" cy="0"/>
        </a:xfrm>
      </p:grpSpPr>
      <p:sp>
        <p:nvSpPr>
          <p:cNvPr id="298" name="Google Shape;298;p34"/>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9" name="Google Shape;299;p3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0" name="Google Shape;300;p3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1" name="Google Shape;301;p3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02" name="Google Shape;302;p34"/>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303" name="Google Shape;303;p34"/>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4" name="Google Shape;304;p34"/>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5" name="Google Shape;305;p34"/>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6" name="Google Shape;306;p34"/>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7" name="Google Shape;307;p34"/>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8" name="Google Shape;308;p34"/>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9" name="Google Shape;309;p34"/>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310" name="Google Shape;310;p34"/>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1" name="Google Shape;311;p34"/>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2" name="Google Shape;312;p34"/>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3" name="Google Shape;313;p34"/>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4" name="Google Shape;314;p34"/>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5" name="Google Shape;315;p34"/>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6" name="Google Shape;316;p34"/>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317" name="Shape 317"/>
        <p:cNvGrpSpPr/>
        <p:nvPr/>
      </p:nvGrpSpPr>
      <p:grpSpPr>
        <a:xfrm>
          <a:off x="0" y="0"/>
          <a:ext cx="0" cy="0"/>
          <a:chOff x="0" y="0"/>
          <a:chExt cx="0" cy="0"/>
        </a:xfrm>
      </p:grpSpPr>
      <p:sp>
        <p:nvSpPr>
          <p:cNvPr id="318" name="Google Shape;318;p3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19" name="Google Shape;319;p3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20" name="Google Shape;320;p3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21" name="Google Shape;321;p3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2" name="Google Shape;322;p35"/>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3" name="Google Shape;323;p35"/>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4" name="Google Shape;324;p35"/>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5" name="Google Shape;325;p35"/>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6" name="Google Shape;326;p35"/>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7" name="Google Shape;327;p35"/>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8" name="Google Shape;328;p35"/>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9" name="Google Shape;329;p35"/>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30" name="Google Shape;330;p35"/>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31" name="Google Shape;331;p35"/>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32" name="Google Shape;332;p35"/>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33" name="Google Shape;333;p35"/>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334" name="Shape 334"/>
        <p:cNvGrpSpPr/>
        <p:nvPr/>
      </p:nvGrpSpPr>
      <p:grpSpPr>
        <a:xfrm>
          <a:off x="0" y="0"/>
          <a:ext cx="0" cy="0"/>
          <a:chOff x="0" y="0"/>
          <a:chExt cx="0" cy="0"/>
        </a:xfrm>
      </p:grpSpPr>
      <p:sp>
        <p:nvSpPr>
          <p:cNvPr id="335" name="Google Shape;335;p3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36" name="Google Shape;336;p36"/>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37" name="Google Shape;337;p3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8" name="Google Shape;338;p3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9" name="Google Shape;339;p36"/>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40" name="Google Shape;340;p36"/>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1" name="Google Shape;341;p36"/>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2" name="Google Shape;342;p36"/>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43" name="Google Shape;343;p36"/>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4" name="Google Shape;344;p36"/>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5" name="Google Shape;345;p36"/>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46" name="Google Shape;346;p36"/>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7" name="Google Shape;347;p36"/>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8" name="Google Shape;348;p36"/>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49" name="Shape 349"/>
        <p:cNvGrpSpPr/>
        <p:nvPr/>
      </p:nvGrpSpPr>
      <p:grpSpPr>
        <a:xfrm>
          <a:off x="0" y="0"/>
          <a:ext cx="0" cy="0"/>
          <a:chOff x="0" y="0"/>
          <a:chExt cx="0" cy="0"/>
        </a:xfrm>
      </p:grpSpPr>
      <p:sp>
        <p:nvSpPr>
          <p:cNvPr id="350" name="Google Shape;350;p37"/>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51" name="Google Shape;351;p3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52" name="Google Shape;352;p3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53" name="Google Shape;353;p37"/>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354" name="Google Shape;354;p37"/>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55" name="Google Shape;355;p37"/>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6" name="Google Shape;356;p37"/>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7" name="Google Shape;357;p37"/>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8" name="Google Shape;358;p37"/>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9" name="Google Shape;359;p37"/>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0" name="Google Shape;360;p37"/>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1" name="Google Shape;361;p37"/>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2" name="Google Shape;362;p37"/>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3" name="Google Shape;363;p37"/>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4" name="Google Shape;364;p37"/>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5" name="Google Shape;365;p37"/>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6" name="Google Shape;366;p37"/>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7" name="Google Shape;367;p37"/>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8" name="Google Shape;368;p37"/>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9" name="Google Shape;369;p37"/>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70" name="Google Shape;370;p37"/>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71" name="Shape 371"/>
        <p:cNvGrpSpPr/>
        <p:nvPr/>
      </p:nvGrpSpPr>
      <p:grpSpPr>
        <a:xfrm>
          <a:off x="0" y="0"/>
          <a:ext cx="0" cy="0"/>
          <a:chOff x="0" y="0"/>
          <a:chExt cx="0" cy="0"/>
        </a:xfrm>
      </p:grpSpPr>
      <p:sp>
        <p:nvSpPr>
          <p:cNvPr id="372" name="Google Shape;372;p38"/>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73" name="Google Shape;373;p38"/>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74" name="Google Shape;374;p3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75" name="Google Shape;375;p3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76" name="Google Shape;376;p38"/>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77" name="Google Shape;377;p38"/>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78" name="Google Shape;378;p38"/>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9" name="Shape 379"/>
        <p:cNvGrpSpPr/>
        <p:nvPr/>
      </p:nvGrpSpPr>
      <p:grpSpPr>
        <a:xfrm>
          <a:off x="0" y="0"/>
          <a:ext cx="0" cy="0"/>
          <a:chOff x="0" y="0"/>
          <a:chExt cx="0" cy="0"/>
        </a:xfrm>
      </p:grpSpPr>
      <p:sp>
        <p:nvSpPr>
          <p:cNvPr id="380" name="Google Shape;380;p3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1" name="Google Shape;381;p39"/>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2" name="Shape 382"/>
        <p:cNvGrpSpPr/>
        <p:nvPr/>
      </p:nvGrpSpPr>
      <p:grpSpPr>
        <a:xfrm>
          <a:off x="0" y="0"/>
          <a:ext cx="0" cy="0"/>
          <a:chOff x="0" y="0"/>
          <a:chExt cx="0" cy="0"/>
        </a:xfrm>
      </p:grpSpPr>
      <p:sp>
        <p:nvSpPr>
          <p:cNvPr id="383" name="Google Shape;383;p4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4" name="Shape 384"/>
        <p:cNvGrpSpPr/>
        <p:nvPr/>
      </p:nvGrpSpPr>
      <p:grpSpPr>
        <a:xfrm>
          <a:off x="0" y="0"/>
          <a:ext cx="0" cy="0"/>
          <a:chOff x="0" y="0"/>
          <a:chExt cx="0" cy="0"/>
        </a:xfrm>
      </p:grpSpPr>
      <p:sp>
        <p:nvSpPr>
          <p:cNvPr id="385" name="Google Shape;38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7" name="Shape 387"/>
        <p:cNvGrpSpPr/>
        <p:nvPr/>
      </p:nvGrpSpPr>
      <p:grpSpPr>
        <a:xfrm>
          <a:off x="0" y="0"/>
          <a:ext cx="0" cy="0"/>
          <a:chOff x="0" y="0"/>
          <a:chExt cx="0" cy="0"/>
        </a:xfrm>
      </p:grpSpPr>
      <p:sp>
        <p:nvSpPr>
          <p:cNvPr id="388" name="Google Shape;388;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9" name="Google Shape;389;p4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0" name="Google Shape;390;p4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1" name="Shape 391"/>
        <p:cNvGrpSpPr/>
        <p:nvPr/>
      </p:nvGrpSpPr>
      <p:grpSpPr>
        <a:xfrm>
          <a:off x="0" y="0"/>
          <a:ext cx="0" cy="0"/>
          <a:chOff x="0" y="0"/>
          <a:chExt cx="0" cy="0"/>
        </a:xfrm>
      </p:grpSpPr>
      <p:sp>
        <p:nvSpPr>
          <p:cNvPr id="392" name="Google Shape;392;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3" name="Shape 393"/>
        <p:cNvGrpSpPr/>
        <p:nvPr/>
      </p:nvGrpSpPr>
      <p:grpSpPr>
        <a:xfrm>
          <a:off x="0" y="0"/>
          <a:ext cx="0" cy="0"/>
          <a:chOff x="0" y="0"/>
          <a:chExt cx="0" cy="0"/>
        </a:xfrm>
      </p:grpSpPr>
      <p:sp>
        <p:nvSpPr>
          <p:cNvPr id="394" name="Google Shape;394;p4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5" name="Google Shape;395;p4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6" name="Shape 396"/>
        <p:cNvGrpSpPr/>
        <p:nvPr/>
      </p:nvGrpSpPr>
      <p:grpSpPr>
        <a:xfrm>
          <a:off x="0" y="0"/>
          <a:ext cx="0" cy="0"/>
          <a:chOff x="0" y="0"/>
          <a:chExt cx="0" cy="0"/>
        </a:xfrm>
      </p:grpSpPr>
      <p:sp>
        <p:nvSpPr>
          <p:cNvPr id="397" name="Google Shape;397;p4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8" name="Shape 398"/>
        <p:cNvGrpSpPr/>
        <p:nvPr/>
      </p:nvGrpSpPr>
      <p:grpSpPr>
        <a:xfrm>
          <a:off x="0" y="0"/>
          <a:ext cx="0" cy="0"/>
          <a:chOff x="0" y="0"/>
          <a:chExt cx="0" cy="0"/>
        </a:xfrm>
      </p:grpSpPr>
      <p:sp>
        <p:nvSpPr>
          <p:cNvPr id="399" name="Google Shape;399;p4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0" name="Google Shape;400;p46"/>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1" name="Google Shape;401;p4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2" name="Shape 402"/>
        <p:cNvGrpSpPr/>
        <p:nvPr/>
      </p:nvGrpSpPr>
      <p:grpSpPr>
        <a:xfrm>
          <a:off x="0" y="0"/>
          <a:ext cx="0" cy="0"/>
          <a:chOff x="0" y="0"/>
          <a:chExt cx="0" cy="0"/>
        </a:xfrm>
      </p:grpSpPr>
      <p:sp>
        <p:nvSpPr>
          <p:cNvPr id="403" name="Google Shape;403;p4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4" name="Shape 404"/>
        <p:cNvGrpSpPr/>
        <p:nvPr/>
      </p:nvGrpSpPr>
      <p:grpSpPr>
        <a:xfrm>
          <a:off x="0" y="0"/>
          <a:ext cx="0" cy="0"/>
          <a:chOff x="0" y="0"/>
          <a:chExt cx="0" cy="0"/>
        </a:xfrm>
      </p:grpSpPr>
      <p:sp>
        <p:nvSpPr>
          <p:cNvPr id="405" name="Google Shape;405;p4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6" name="Google Shape;406;p4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7" name="Shape 407"/>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8" name="Shape 408"/>
        <p:cNvGrpSpPr/>
        <p:nvPr/>
      </p:nvGrpSpPr>
      <p:grpSpPr>
        <a:xfrm>
          <a:off x="0" y="0"/>
          <a:ext cx="0" cy="0"/>
          <a:chOff x="0" y="0"/>
          <a:chExt cx="0" cy="0"/>
        </a:xfrm>
      </p:grpSpPr>
      <p:sp>
        <p:nvSpPr>
          <p:cNvPr id="409" name="Google Shape;409;p50"/>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50"/>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50"/>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50"/>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50"/>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50"/>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5" name="Google Shape;415;p50"/>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6" name="Shape 416"/>
        <p:cNvGrpSpPr/>
        <p:nvPr/>
      </p:nvGrpSpPr>
      <p:grpSpPr>
        <a:xfrm>
          <a:off x="0" y="0"/>
          <a:ext cx="0" cy="0"/>
          <a:chOff x="0" y="0"/>
          <a:chExt cx="0" cy="0"/>
        </a:xfrm>
      </p:grpSpPr>
      <p:sp>
        <p:nvSpPr>
          <p:cNvPr id="417" name="Google Shape;41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5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9" name="Google Shape;419;p5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20" name="Shape 420"/>
        <p:cNvGrpSpPr/>
        <p:nvPr/>
      </p:nvGrpSpPr>
      <p:grpSpPr>
        <a:xfrm>
          <a:off x="0" y="0"/>
          <a:ext cx="0" cy="0"/>
          <a:chOff x="0" y="0"/>
          <a:chExt cx="0" cy="0"/>
        </a:xfrm>
      </p:grpSpPr>
      <p:sp>
        <p:nvSpPr>
          <p:cNvPr id="421" name="Google Shape;421;p5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2" name="Google Shape;422;p5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5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52"/>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5" name="Google Shape;425;p52"/>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6" name="Shape 426"/>
        <p:cNvGrpSpPr/>
        <p:nvPr/>
      </p:nvGrpSpPr>
      <p:grpSpPr>
        <a:xfrm>
          <a:off x="0" y="0"/>
          <a:ext cx="0" cy="0"/>
          <a:chOff x="0" y="0"/>
          <a:chExt cx="0" cy="0"/>
        </a:xfrm>
      </p:grpSpPr>
      <p:sp>
        <p:nvSpPr>
          <p:cNvPr id="427" name="Google Shape;427;p5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5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9" name="Google Shape;429;p5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30" name="Google Shape;430;p53"/>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53"/>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53"/>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3" name="Google Shape;433;p5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4" name="Shape 434"/>
        <p:cNvGrpSpPr/>
        <p:nvPr/>
      </p:nvGrpSpPr>
      <p:grpSpPr>
        <a:xfrm>
          <a:off x="0" y="0"/>
          <a:ext cx="0" cy="0"/>
          <a:chOff x="0" y="0"/>
          <a:chExt cx="0" cy="0"/>
        </a:xfrm>
      </p:grpSpPr>
      <p:sp>
        <p:nvSpPr>
          <p:cNvPr id="435" name="Google Shape;435;p5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5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5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9" name="Google Shape;439;p5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40" name="Google Shape;440;p54"/>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4"/>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4"/>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4"/>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4" name="Shape 444"/>
        <p:cNvGrpSpPr/>
        <p:nvPr/>
      </p:nvGrpSpPr>
      <p:grpSpPr>
        <a:xfrm>
          <a:off x="0" y="0"/>
          <a:ext cx="0" cy="0"/>
          <a:chOff x="0" y="0"/>
          <a:chExt cx="0" cy="0"/>
        </a:xfrm>
      </p:grpSpPr>
      <p:sp>
        <p:nvSpPr>
          <p:cNvPr id="445" name="Google Shape;445;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5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7" name="Shape 447"/>
        <p:cNvGrpSpPr/>
        <p:nvPr/>
      </p:nvGrpSpPr>
      <p:grpSpPr>
        <a:xfrm>
          <a:off x="0" y="0"/>
          <a:ext cx="0" cy="0"/>
          <a:chOff x="0" y="0"/>
          <a:chExt cx="0" cy="0"/>
        </a:xfrm>
      </p:grpSpPr>
      <p:sp>
        <p:nvSpPr>
          <p:cNvPr id="448" name="Google Shape;448;p5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9" name="Google Shape;449;p56"/>
          <p:cNvSpPr/>
          <p:nvPr>
            <p:ph idx="2" type="pic"/>
          </p:nvPr>
        </p:nvSpPr>
        <p:spPr>
          <a:xfrm>
            <a:off x="4804825" y="1133300"/>
            <a:ext cx="4027500" cy="2392800"/>
          </a:xfrm>
          <a:prstGeom prst="rect">
            <a:avLst/>
          </a:prstGeom>
          <a:noFill/>
          <a:ln>
            <a:noFill/>
          </a:ln>
        </p:spPr>
      </p:sp>
      <p:sp>
        <p:nvSpPr>
          <p:cNvPr id="450" name="Google Shape;450;p56"/>
          <p:cNvSpPr/>
          <p:nvPr>
            <p:ph idx="3" type="pic"/>
          </p:nvPr>
        </p:nvSpPr>
        <p:spPr>
          <a:xfrm>
            <a:off x="311725" y="1133300"/>
            <a:ext cx="4027500" cy="2392800"/>
          </a:xfrm>
          <a:prstGeom prst="rect">
            <a:avLst/>
          </a:prstGeom>
          <a:noFill/>
          <a:ln>
            <a:noFill/>
          </a:ln>
        </p:spPr>
      </p:sp>
      <p:sp>
        <p:nvSpPr>
          <p:cNvPr id="451" name="Google Shape;451;p5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2" name="Google Shape;452;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3" name="Google Shape;453;p56"/>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4" name="Google Shape;454;p56"/>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5" name="Shape 455"/>
        <p:cNvGrpSpPr/>
        <p:nvPr/>
      </p:nvGrpSpPr>
      <p:grpSpPr>
        <a:xfrm>
          <a:off x="0" y="0"/>
          <a:ext cx="0" cy="0"/>
          <a:chOff x="0" y="0"/>
          <a:chExt cx="0" cy="0"/>
        </a:xfrm>
      </p:grpSpPr>
      <p:sp>
        <p:nvSpPr>
          <p:cNvPr id="456" name="Google Shape;456;p5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7" name="Google Shape;457;p57"/>
          <p:cNvSpPr/>
          <p:nvPr>
            <p:ph idx="2" type="pic"/>
          </p:nvPr>
        </p:nvSpPr>
        <p:spPr>
          <a:xfrm>
            <a:off x="6205225" y="1128325"/>
            <a:ext cx="2627100" cy="2273100"/>
          </a:xfrm>
          <a:prstGeom prst="rect">
            <a:avLst/>
          </a:prstGeom>
          <a:noFill/>
          <a:ln>
            <a:noFill/>
          </a:ln>
        </p:spPr>
      </p:sp>
      <p:sp>
        <p:nvSpPr>
          <p:cNvPr id="458" name="Google Shape;458;p57"/>
          <p:cNvSpPr/>
          <p:nvPr>
            <p:ph idx="3" type="pic"/>
          </p:nvPr>
        </p:nvSpPr>
        <p:spPr>
          <a:xfrm>
            <a:off x="311725" y="1128325"/>
            <a:ext cx="2627100" cy="2273100"/>
          </a:xfrm>
          <a:prstGeom prst="rect">
            <a:avLst/>
          </a:prstGeom>
          <a:noFill/>
          <a:ln>
            <a:noFill/>
          </a:ln>
        </p:spPr>
      </p:sp>
      <p:sp>
        <p:nvSpPr>
          <p:cNvPr id="459" name="Google Shape;459;p5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0" name="Google Shape;460;p57"/>
          <p:cNvSpPr/>
          <p:nvPr>
            <p:ph idx="5" type="pic"/>
          </p:nvPr>
        </p:nvSpPr>
        <p:spPr>
          <a:xfrm>
            <a:off x="3255250" y="1128325"/>
            <a:ext cx="2627100" cy="2273100"/>
          </a:xfrm>
          <a:prstGeom prst="rect">
            <a:avLst/>
          </a:prstGeom>
          <a:noFill/>
          <a:ln>
            <a:noFill/>
          </a:ln>
        </p:spPr>
      </p:sp>
      <p:sp>
        <p:nvSpPr>
          <p:cNvPr id="461" name="Google Shape;461;p5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2" name="Google Shape;462;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3" name="Google Shape;463;p57"/>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7"/>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5" name="Google Shape;465;p57"/>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6" name="Shape 466"/>
        <p:cNvGrpSpPr/>
        <p:nvPr/>
      </p:nvGrpSpPr>
      <p:grpSpPr>
        <a:xfrm>
          <a:off x="0" y="0"/>
          <a:ext cx="0" cy="0"/>
          <a:chOff x="0" y="0"/>
          <a:chExt cx="0" cy="0"/>
        </a:xfrm>
      </p:grpSpPr>
      <p:sp>
        <p:nvSpPr>
          <p:cNvPr id="467" name="Google Shape;467;p5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8" name="Shape 468"/>
        <p:cNvGrpSpPr/>
        <p:nvPr/>
      </p:nvGrpSpPr>
      <p:grpSpPr>
        <a:xfrm>
          <a:off x="0" y="0"/>
          <a:ext cx="0" cy="0"/>
          <a:chOff x="0" y="0"/>
          <a:chExt cx="0" cy="0"/>
        </a:xfrm>
      </p:grpSpPr>
      <p:sp>
        <p:nvSpPr>
          <p:cNvPr id="469" name="Google Shape;469;p59"/>
          <p:cNvSpPr/>
          <p:nvPr>
            <p:ph idx="2" type="pic"/>
          </p:nvPr>
        </p:nvSpPr>
        <p:spPr>
          <a:xfrm>
            <a:off x="3389600" y="118913"/>
            <a:ext cx="1643700" cy="1535100"/>
          </a:xfrm>
          <a:prstGeom prst="rect">
            <a:avLst/>
          </a:prstGeom>
          <a:noFill/>
          <a:ln>
            <a:noFill/>
          </a:ln>
        </p:spPr>
      </p:sp>
      <p:sp>
        <p:nvSpPr>
          <p:cNvPr id="470" name="Google Shape;470;p59"/>
          <p:cNvSpPr/>
          <p:nvPr>
            <p:ph idx="3" type="pic"/>
          </p:nvPr>
        </p:nvSpPr>
        <p:spPr>
          <a:xfrm>
            <a:off x="5195935" y="118913"/>
            <a:ext cx="1643700" cy="1535100"/>
          </a:xfrm>
          <a:prstGeom prst="rect">
            <a:avLst/>
          </a:prstGeom>
          <a:noFill/>
          <a:ln>
            <a:noFill/>
          </a:ln>
        </p:spPr>
      </p:sp>
      <p:sp>
        <p:nvSpPr>
          <p:cNvPr id="471" name="Google Shape;471;p59"/>
          <p:cNvSpPr/>
          <p:nvPr>
            <p:ph idx="4" type="pic"/>
          </p:nvPr>
        </p:nvSpPr>
        <p:spPr>
          <a:xfrm>
            <a:off x="7002270" y="118913"/>
            <a:ext cx="1643700" cy="1535100"/>
          </a:xfrm>
          <a:prstGeom prst="rect">
            <a:avLst/>
          </a:prstGeom>
          <a:noFill/>
          <a:ln>
            <a:noFill/>
          </a:ln>
        </p:spPr>
      </p:sp>
      <p:sp>
        <p:nvSpPr>
          <p:cNvPr id="472" name="Google Shape;472;p59"/>
          <p:cNvSpPr/>
          <p:nvPr>
            <p:ph idx="5" type="pic"/>
          </p:nvPr>
        </p:nvSpPr>
        <p:spPr>
          <a:xfrm>
            <a:off x="3389588" y="1804212"/>
            <a:ext cx="1643700" cy="1535100"/>
          </a:xfrm>
          <a:prstGeom prst="rect">
            <a:avLst/>
          </a:prstGeom>
          <a:noFill/>
          <a:ln>
            <a:noFill/>
          </a:ln>
        </p:spPr>
      </p:sp>
      <p:sp>
        <p:nvSpPr>
          <p:cNvPr id="473" name="Google Shape;473;p59"/>
          <p:cNvSpPr/>
          <p:nvPr>
            <p:ph idx="6" type="pic"/>
          </p:nvPr>
        </p:nvSpPr>
        <p:spPr>
          <a:xfrm>
            <a:off x="5195922" y="1804212"/>
            <a:ext cx="1643700" cy="1535100"/>
          </a:xfrm>
          <a:prstGeom prst="rect">
            <a:avLst/>
          </a:prstGeom>
          <a:noFill/>
          <a:ln>
            <a:noFill/>
          </a:ln>
        </p:spPr>
      </p:sp>
      <p:sp>
        <p:nvSpPr>
          <p:cNvPr id="474" name="Google Shape;474;p59"/>
          <p:cNvSpPr/>
          <p:nvPr>
            <p:ph idx="7" type="pic"/>
          </p:nvPr>
        </p:nvSpPr>
        <p:spPr>
          <a:xfrm>
            <a:off x="7002257" y="1804212"/>
            <a:ext cx="1643700" cy="1535100"/>
          </a:xfrm>
          <a:prstGeom prst="rect">
            <a:avLst/>
          </a:prstGeom>
          <a:noFill/>
          <a:ln>
            <a:noFill/>
          </a:ln>
        </p:spPr>
      </p:sp>
      <p:sp>
        <p:nvSpPr>
          <p:cNvPr id="475" name="Google Shape;475;p5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59"/>
          <p:cNvSpPr/>
          <p:nvPr>
            <p:ph idx="8" type="pic"/>
          </p:nvPr>
        </p:nvSpPr>
        <p:spPr>
          <a:xfrm>
            <a:off x="3389588" y="3489487"/>
            <a:ext cx="1643700" cy="1535100"/>
          </a:xfrm>
          <a:prstGeom prst="rect">
            <a:avLst/>
          </a:prstGeom>
          <a:noFill/>
          <a:ln>
            <a:noFill/>
          </a:ln>
        </p:spPr>
      </p:sp>
      <p:sp>
        <p:nvSpPr>
          <p:cNvPr id="477" name="Google Shape;477;p59"/>
          <p:cNvSpPr/>
          <p:nvPr>
            <p:ph idx="9" type="pic"/>
          </p:nvPr>
        </p:nvSpPr>
        <p:spPr>
          <a:xfrm>
            <a:off x="5195922" y="3489487"/>
            <a:ext cx="1643700" cy="1535100"/>
          </a:xfrm>
          <a:prstGeom prst="rect">
            <a:avLst/>
          </a:prstGeom>
          <a:noFill/>
          <a:ln>
            <a:noFill/>
          </a:ln>
        </p:spPr>
      </p:sp>
      <p:sp>
        <p:nvSpPr>
          <p:cNvPr id="478" name="Google Shape;478;p5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47" Type="http://schemas.openxmlformats.org/officeDocument/2006/relationships/theme" Target="../theme/theme2.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2" name="Google Shape;52;p13"/>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3" name="Google Shape;53;p13"/>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54" name="Google Shape;54;p13"/>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0"/>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6800"/>
              <a:t>Equipment Mix Optimization</a:t>
            </a:r>
            <a:endParaRPr sz="6800"/>
          </a:p>
          <a:p>
            <a:pPr indent="0" lvl="0" marL="0" rtl="0" algn="l">
              <a:spcBef>
                <a:spcPts val="0"/>
              </a:spcBef>
              <a:spcAft>
                <a:spcPts val="0"/>
              </a:spcAft>
              <a:buNone/>
            </a:pPr>
            <a:r>
              <a:rPr lang="en" sz="3000"/>
              <a:t>Revenue &amp; Financial Utilization Analysis</a:t>
            </a:r>
            <a:endParaRPr sz="30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EquipmentShare Analyst Assessment</a:t>
            </a:r>
            <a:endParaRPr sz="1500"/>
          </a:p>
          <a:p>
            <a:pPr indent="0" lvl="0" marL="0" rtl="0" algn="l">
              <a:spcBef>
                <a:spcPts val="0"/>
              </a:spcBef>
              <a:spcAft>
                <a:spcPts val="0"/>
              </a:spcAft>
              <a:buNone/>
            </a:pPr>
            <a:r>
              <a:rPr lang="en" sz="1500"/>
              <a:t>Haley Blair</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1"/>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AGENDA</a:t>
            </a:r>
            <a:endParaRPr/>
          </a:p>
        </p:txBody>
      </p:sp>
      <p:sp>
        <p:nvSpPr>
          <p:cNvPr id="489" name="Google Shape;489;p61"/>
          <p:cNvSpPr txBox="1"/>
          <p:nvPr>
            <p:ph type="title"/>
          </p:nvPr>
        </p:nvSpPr>
        <p:spPr>
          <a:xfrm>
            <a:off x="3809850" y="1269500"/>
            <a:ext cx="2884500" cy="36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Business Goals &amp; Objectives</a:t>
            </a:r>
            <a:endParaRPr/>
          </a:p>
        </p:txBody>
      </p:sp>
      <p:sp>
        <p:nvSpPr>
          <p:cNvPr id="490" name="Google Shape;490;p61"/>
          <p:cNvSpPr txBox="1"/>
          <p:nvPr>
            <p:ph idx="2" type="title"/>
          </p:nvPr>
        </p:nvSpPr>
        <p:spPr>
          <a:xfrm>
            <a:off x="3154650" y="3487144"/>
            <a:ext cx="592800" cy="368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06</a:t>
            </a:r>
            <a:endParaRPr/>
          </a:p>
        </p:txBody>
      </p:sp>
      <p:sp>
        <p:nvSpPr>
          <p:cNvPr id="491" name="Google Shape;491;p61"/>
          <p:cNvSpPr txBox="1"/>
          <p:nvPr>
            <p:ph idx="5" type="title"/>
          </p:nvPr>
        </p:nvSpPr>
        <p:spPr>
          <a:xfrm>
            <a:off x="3809850" y="1714600"/>
            <a:ext cx="2884500" cy="3681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Data Cleaning &amp; Outliers</a:t>
            </a:r>
            <a:endParaRPr/>
          </a:p>
        </p:txBody>
      </p:sp>
      <p:sp>
        <p:nvSpPr>
          <p:cNvPr id="492" name="Google Shape;492;p61"/>
          <p:cNvSpPr txBox="1"/>
          <p:nvPr>
            <p:ph idx="6" type="title"/>
          </p:nvPr>
        </p:nvSpPr>
        <p:spPr>
          <a:xfrm>
            <a:off x="3809850" y="2159700"/>
            <a:ext cx="2884500" cy="3681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Revenue</a:t>
            </a:r>
            <a:endParaRPr/>
          </a:p>
        </p:txBody>
      </p:sp>
      <p:sp>
        <p:nvSpPr>
          <p:cNvPr id="493" name="Google Shape;493;p61"/>
          <p:cNvSpPr txBox="1"/>
          <p:nvPr>
            <p:ph idx="7" type="title"/>
          </p:nvPr>
        </p:nvSpPr>
        <p:spPr>
          <a:xfrm>
            <a:off x="3809850" y="2599400"/>
            <a:ext cx="2884500" cy="3681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Financial Utilization</a:t>
            </a:r>
            <a:endParaRPr/>
          </a:p>
        </p:txBody>
      </p:sp>
      <p:sp>
        <p:nvSpPr>
          <p:cNvPr id="494" name="Google Shape;494;p61"/>
          <p:cNvSpPr txBox="1"/>
          <p:nvPr>
            <p:ph idx="8" type="title"/>
          </p:nvPr>
        </p:nvSpPr>
        <p:spPr>
          <a:xfrm>
            <a:off x="3809850" y="3043269"/>
            <a:ext cx="2884500" cy="3681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Recommendations</a:t>
            </a:r>
            <a:endParaRPr/>
          </a:p>
        </p:txBody>
      </p:sp>
      <p:sp>
        <p:nvSpPr>
          <p:cNvPr id="495" name="Google Shape;495;p61"/>
          <p:cNvSpPr txBox="1"/>
          <p:nvPr>
            <p:ph idx="9" type="title"/>
          </p:nvPr>
        </p:nvSpPr>
        <p:spPr>
          <a:xfrm>
            <a:off x="3809850" y="3487144"/>
            <a:ext cx="2884500" cy="3681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Future Opportunities</a:t>
            </a:r>
            <a:endParaRPr/>
          </a:p>
        </p:txBody>
      </p:sp>
      <p:sp>
        <p:nvSpPr>
          <p:cNvPr id="496" name="Google Shape;496;p61"/>
          <p:cNvSpPr txBox="1"/>
          <p:nvPr>
            <p:ph idx="13" type="title"/>
          </p:nvPr>
        </p:nvSpPr>
        <p:spPr>
          <a:xfrm>
            <a:off x="3154650" y="3043613"/>
            <a:ext cx="592800" cy="368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05</a:t>
            </a:r>
            <a:endParaRPr/>
          </a:p>
        </p:txBody>
      </p:sp>
      <p:sp>
        <p:nvSpPr>
          <p:cNvPr id="497" name="Google Shape;497;p61"/>
          <p:cNvSpPr txBox="1"/>
          <p:nvPr>
            <p:ph idx="14" type="title"/>
          </p:nvPr>
        </p:nvSpPr>
        <p:spPr>
          <a:xfrm>
            <a:off x="3154650" y="2600081"/>
            <a:ext cx="592800" cy="368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04</a:t>
            </a:r>
            <a:endParaRPr/>
          </a:p>
        </p:txBody>
      </p:sp>
      <p:sp>
        <p:nvSpPr>
          <p:cNvPr id="498" name="Google Shape;498;p61"/>
          <p:cNvSpPr txBox="1"/>
          <p:nvPr>
            <p:ph idx="15" type="title"/>
          </p:nvPr>
        </p:nvSpPr>
        <p:spPr>
          <a:xfrm>
            <a:off x="3154650" y="2156550"/>
            <a:ext cx="592800" cy="368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03</a:t>
            </a:r>
            <a:endParaRPr/>
          </a:p>
        </p:txBody>
      </p:sp>
      <p:sp>
        <p:nvSpPr>
          <p:cNvPr id="499" name="Google Shape;499;p61"/>
          <p:cNvSpPr txBox="1"/>
          <p:nvPr>
            <p:ph idx="16" type="title"/>
          </p:nvPr>
        </p:nvSpPr>
        <p:spPr>
          <a:xfrm>
            <a:off x="3154650" y="1713019"/>
            <a:ext cx="592800" cy="368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02</a:t>
            </a:r>
            <a:endParaRPr/>
          </a:p>
        </p:txBody>
      </p:sp>
      <p:sp>
        <p:nvSpPr>
          <p:cNvPr id="500" name="Google Shape;500;p61"/>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2"/>
          <p:cNvSpPr txBox="1"/>
          <p:nvPr>
            <p:ph idx="3" type="title"/>
          </p:nvPr>
        </p:nvSpPr>
        <p:spPr>
          <a:xfrm>
            <a:off x="228600" y="1222200"/>
            <a:ext cx="8686800" cy="2699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000"/>
              <a:t>Question: What equipment mix maximizes market performance? </a:t>
            </a:r>
            <a:endParaRPr sz="3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3000"/>
          </a:p>
          <a:p>
            <a:pPr indent="0" lvl="0" marL="0" rtl="0" algn="l">
              <a:spcBef>
                <a:spcPts val="0"/>
              </a:spcBef>
              <a:spcAft>
                <a:spcPts val="0"/>
              </a:spcAft>
              <a:buNone/>
            </a:pPr>
            <a:r>
              <a:rPr lang="en" sz="3000"/>
              <a:t>Objective: Actionable market recommendations</a:t>
            </a:r>
            <a:endParaRPr sz="3000"/>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3"/>
          <p:cNvSpPr/>
          <p:nvPr/>
        </p:nvSpPr>
        <p:spPr>
          <a:xfrm>
            <a:off x="238098" y="1084850"/>
            <a:ext cx="2778600" cy="3011100"/>
          </a:xfrm>
          <a:prstGeom prst="roundRect">
            <a:avLst>
              <a:gd fmla="val 3071" name="adj"/>
            </a:avLst>
          </a:prstGeom>
          <a:solidFill>
            <a:schemeClr val="lt1"/>
          </a:solidFill>
          <a:ln>
            <a:noFill/>
          </a:ln>
          <a:effectLst>
            <a:outerShdw blurRad="128588" rotWithShape="0" algn="bl">
              <a:schemeClr val="lt2">
                <a:alpha val="57999"/>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11" name="Google Shape;511;p63"/>
          <p:cNvSpPr/>
          <p:nvPr/>
        </p:nvSpPr>
        <p:spPr>
          <a:xfrm>
            <a:off x="6131946" y="1084850"/>
            <a:ext cx="2778600" cy="3011100"/>
          </a:xfrm>
          <a:prstGeom prst="roundRect">
            <a:avLst>
              <a:gd fmla="val 3071" name="adj"/>
            </a:avLst>
          </a:prstGeom>
          <a:solidFill>
            <a:schemeClr val="lt1"/>
          </a:solidFill>
          <a:ln>
            <a:noFill/>
          </a:ln>
          <a:effectLst>
            <a:outerShdw blurRad="128588" rotWithShape="0" algn="bl">
              <a:schemeClr val="lt2">
                <a:alpha val="57999"/>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12" name="Google Shape;512;p63"/>
          <p:cNvSpPr/>
          <p:nvPr/>
        </p:nvSpPr>
        <p:spPr>
          <a:xfrm>
            <a:off x="3182700" y="1445900"/>
            <a:ext cx="2778600" cy="3011100"/>
          </a:xfrm>
          <a:prstGeom prst="roundRect">
            <a:avLst>
              <a:gd fmla="val 3071" name="adj"/>
            </a:avLst>
          </a:prstGeom>
          <a:solidFill>
            <a:schemeClr val="lt1"/>
          </a:solidFill>
          <a:ln>
            <a:noFill/>
          </a:ln>
          <a:effectLst>
            <a:outerShdw blurRad="128588" rotWithShape="0" algn="bl">
              <a:schemeClr val="lt2">
                <a:alpha val="57999"/>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13" name="Google Shape;513;p6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Data Cleaning</a:t>
            </a:r>
            <a:endParaRPr/>
          </a:p>
        </p:txBody>
      </p:sp>
      <p:sp>
        <p:nvSpPr>
          <p:cNvPr id="514" name="Google Shape;514;p63"/>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Asset is Rented Prior to Asset Acquisition Date</a:t>
            </a:r>
            <a:endParaRPr/>
          </a:p>
        </p:txBody>
      </p:sp>
      <p:sp>
        <p:nvSpPr>
          <p:cNvPr id="515" name="Google Shape;515;p63"/>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Partially Missing Data</a:t>
            </a:r>
            <a:endParaRPr/>
          </a:p>
        </p:txBody>
      </p:sp>
      <p:sp>
        <p:nvSpPr>
          <p:cNvPr id="516" name="Google Shape;516;p63"/>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Assumptions</a:t>
            </a:r>
            <a:endParaRPr/>
          </a:p>
        </p:txBody>
      </p:sp>
      <p:sp>
        <p:nvSpPr>
          <p:cNvPr id="517" name="Google Shape;517;p63"/>
          <p:cNvSpPr txBox="1"/>
          <p:nvPr>
            <p:ph idx="4" type="body"/>
          </p:nvPr>
        </p:nvSpPr>
        <p:spPr>
          <a:xfrm>
            <a:off x="486650" y="2099800"/>
            <a:ext cx="2281500" cy="13341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Asset may have been rented in another market</a:t>
            </a:r>
            <a:endParaRPr/>
          </a:p>
          <a:p>
            <a:pPr indent="-177800" lvl="0" marL="285750" rtl="0" algn="l">
              <a:spcBef>
                <a:spcPts val="1000"/>
              </a:spcBef>
              <a:spcAft>
                <a:spcPts val="0"/>
              </a:spcAft>
              <a:buSzPts val="1000"/>
              <a:buChar char="⟶"/>
            </a:pPr>
            <a:r>
              <a:rPr lang="en"/>
              <a:t>Records were removed</a:t>
            </a:r>
            <a:endParaRPr/>
          </a:p>
          <a:p>
            <a:pPr indent="-177800" lvl="0" marL="285750" rtl="0" algn="l">
              <a:spcBef>
                <a:spcPts val="1000"/>
              </a:spcBef>
              <a:spcAft>
                <a:spcPts val="1000"/>
              </a:spcAft>
              <a:buSzPts val="1000"/>
              <a:buChar char="⟶"/>
            </a:pPr>
            <a:r>
              <a:rPr lang="en"/>
              <a:t>Asset </a:t>
            </a:r>
            <a:r>
              <a:rPr lang="en"/>
              <a:t>Acquisition</a:t>
            </a:r>
            <a:r>
              <a:rPr lang="en"/>
              <a:t> Revenue Impact: $618,284</a:t>
            </a:r>
            <a:endParaRPr/>
          </a:p>
        </p:txBody>
      </p:sp>
      <p:sp>
        <p:nvSpPr>
          <p:cNvPr id="518" name="Google Shape;518;p63"/>
          <p:cNvSpPr txBox="1"/>
          <p:nvPr>
            <p:ph idx="4" type="body"/>
          </p:nvPr>
        </p:nvSpPr>
        <p:spPr>
          <a:xfrm>
            <a:off x="6375850" y="2099800"/>
            <a:ext cx="2281500" cy="13341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Market IDs in rental data that don’t align with market IDs in asset data. Assumed asset data was correct. </a:t>
            </a:r>
            <a:endParaRPr/>
          </a:p>
          <a:p>
            <a:pPr indent="-177800" lvl="0" marL="285750" rtl="0" algn="l">
              <a:spcBef>
                <a:spcPts val="1000"/>
              </a:spcBef>
              <a:spcAft>
                <a:spcPts val="0"/>
              </a:spcAft>
              <a:buSzPts val="1000"/>
              <a:buChar char="⟶"/>
            </a:pPr>
            <a:r>
              <a:rPr lang="en"/>
              <a:t>Used OEC to determine the aerial vs dirt mix </a:t>
            </a:r>
            <a:endParaRPr/>
          </a:p>
          <a:p>
            <a:pPr indent="-177800" lvl="0" marL="285750" rtl="0" algn="l">
              <a:spcBef>
                <a:spcPts val="1000"/>
              </a:spcBef>
              <a:spcAft>
                <a:spcPts val="1000"/>
              </a:spcAft>
              <a:buSzPts val="1000"/>
              <a:buChar char="⟶"/>
            </a:pPr>
            <a:r>
              <a:rPr lang="en"/>
              <a:t>Clean dataset only has 10 markets which is a fairly small sample for this analysis</a:t>
            </a:r>
            <a:endParaRPr/>
          </a:p>
        </p:txBody>
      </p:sp>
      <p:sp>
        <p:nvSpPr>
          <p:cNvPr id="519" name="Google Shape;519;p63"/>
          <p:cNvSpPr txBox="1"/>
          <p:nvPr>
            <p:ph idx="4" type="body"/>
          </p:nvPr>
        </p:nvSpPr>
        <p:spPr>
          <a:xfrm>
            <a:off x="3431250" y="2460850"/>
            <a:ext cx="2281500" cy="13341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Market IDs in the asset data that aren’t in our market map</a:t>
            </a:r>
            <a:endParaRPr/>
          </a:p>
          <a:p>
            <a:pPr indent="-292100" lvl="0" marL="457200" rtl="0" algn="l">
              <a:spcBef>
                <a:spcPts val="1000"/>
              </a:spcBef>
              <a:spcAft>
                <a:spcPts val="0"/>
              </a:spcAft>
              <a:buSzPts val="1000"/>
              <a:buChar char="⟶"/>
            </a:pPr>
            <a:r>
              <a:rPr lang="en"/>
              <a:t>14 Market IDs listed in assets that isn’t in the market map. </a:t>
            </a:r>
            <a:endParaRPr/>
          </a:p>
          <a:p>
            <a:pPr indent="-292100" lvl="0" marL="457200" rtl="0" algn="l">
              <a:spcBef>
                <a:spcPts val="1000"/>
              </a:spcBef>
              <a:spcAft>
                <a:spcPts val="0"/>
              </a:spcAft>
              <a:buSzPts val="1000"/>
              <a:buChar char="⟶"/>
            </a:pPr>
            <a:r>
              <a:rPr lang="en"/>
              <a:t>Rentals before the market open date</a:t>
            </a:r>
            <a:endParaRPr/>
          </a:p>
          <a:p>
            <a:pPr indent="-292100" lvl="0" marL="457200" rtl="0" algn="l">
              <a:spcBef>
                <a:spcPts val="1000"/>
              </a:spcBef>
              <a:spcAft>
                <a:spcPts val="1000"/>
              </a:spcAft>
              <a:buSzPts val="1000"/>
              <a:buChar char="⟶"/>
            </a:pPr>
            <a:r>
              <a:rPr lang="en"/>
              <a:t>Revenue Impact: $3,534,414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4"/>
          <p:cNvSpPr txBox="1"/>
          <p:nvPr>
            <p:ph idx="3" type="title"/>
          </p:nvPr>
        </p:nvSpPr>
        <p:spPr>
          <a:xfrm>
            <a:off x="230937" y="1426367"/>
            <a:ext cx="2378700" cy="34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Revenue</a:t>
            </a:r>
            <a:endParaRPr sz="2600"/>
          </a:p>
        </p:txBody>
      </p:sp>
      <p:sp>
        <p:nvSpPr>
          <p:cNvPr id="525" name="Google Shape;525;p64"/>
          <p:cNvSpPr txBox="1"/>
          <p:nvPr>
            <p:ph idx="1" type="body"/>
          </p:nvPr>
        </p:nvSpPr>
        <p:spPr>
          <a:xfrm>
            <a:off x="414738" y="1895400"/>
            <a:ext cx="2378700" cy="1848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sz="1200">
                <a:latin typeface="Figtree"/>
                <a:ea typeface="Figtree"/>
                <a:cs typeface="Figtree"/>
                <a:sym typeface="Figtree"/>
              </a:rPr>
              <a:t>Primary Driver: OEC</a:t>
            </a:r>
            <a:endParaRPr/>
          </a:p>
        </p:txBody>
      </p:sp>
      <p:sp>
        <p:nvSpPr>
          <p:cNvPr id="526" name="Google Shape;526;p64"/>
          <p:cNvSpPr txBox="1"/>
          <p:nvPr>
            <p:ph idx="15" type="body"/>
          </p:nvPr>
        </p:nvSpPr>
        <p:spPr>
          <a:xfrm>
            <a:off x="414750" y="2479350"/>
            <a:ext cx="2378700" cy="1662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age of the market &amp; OEC explain 98% of the variability in revenue. OEC alone explains 97% variability. The more invested in a market, the more revenue.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Modeling showed that equipment class alone can only explain 11% of the variability in revenue</a:t>
            </a:r>
            <a:endParaRPr/>
          </a:p>
        </p:txBody>
      </p:sp>
      <p:pic>
        <p:nvPicPr>
          <p:cNvPr id="527" name="Google Shape;527;p64"/>
          <p:cNvPicPr preferRelativeResize="0"/>
          <p:nvPr/>
        </p:nvPicPr>
        <p:blipFill>
          <a:blip r:embed="rId3">
            <a:alphaModFix/>
          </a:blip>
          <a:stretch>
            <a:fillRect/>
          </a:stretch>
        </p:blipFill>
        <p:spPr>
          <a:xfrm>
            <a:off x="3257365" y="450149"/>
            <a:ext cx="5640572" cy="4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5"/>
          <p:cNvSpPr txBox="1"/>
          <p:nvPr>
            <p:ph idx="3" type="title"/>
          </p:nvPr>
        </p:nvSpPr>
        <p:spPr>
          <a:xfrm>
            <a:off x="228612" y="2287629"/>
            <a:ext cx="2378700" cy="34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Revenue by Market</a:t>
            </a:r>
            <a:endParaRPr sz="2600"/>
          </a:p>
        </p:txBody>
      </p:sp>
      <p:pic>
        <p:nvPicPr>
          <p:cNvPr id="533" name="Google Shape;533;p65"/>
          <p:cNvPicPr preferRelativeResize="0"/>
          <p:nvPr/>
        </p:nvPicPr>
        <p:blipFill>
          <a:blip r:embed="rId3">
            <a:alphaModFix/>
          </a:blip>
          <a:stretch>
            <a:fillRect/>
          </a:stretch>
        </p:blipFill>
        <p:spPr>
          <a:xfrm>
            <a:off x="2607300" y="415600"/>
            <a:ext cx="6116100" cy="4312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6"/>
          <p:cNvSpPr txBox="1"/>
          <p:nvPr>
            <p:ph idx="3" type="title"/>
          </p:nvPr>
        </p:nvSpPr>
        <p:spPr>
          <a:xfrm>
            <a:off x="228612" y="1276842"/>
            <a:ext cx="2378700" cy="34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Aerial Mix vs Financial Utilization</a:t>
            </a:r>
            <a:endParaRPr sz="2600"/>
          </a:p>
        </p:txBody>
      </p:sp>
      <p:sp>
        <p:nvSpPr>
          <p:cNvPr id="539" name="Google Shape;539;p66"/>
          <p:cNvSpPr txBox="1"/>
          <p:nvPr>
            <p:ph idx="1" type="body"/>
          </p:nvPr>
        </p:nvSpPr>
        <p:spPr>
          <a:xfrm>
            <a:off x="414738" y="1895400"/>
            <a:ext cx="2378700" cy="25860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sz="1200">
                <a:latin typeface="Figtree"/>
                <a:ea typeface="Figtree"/>
                <a:cs typeface="Figtree"/>
                <a:sym typeface="Figtree"/>
              </a:rPr>
              <a:t>Sensitive to equipment mix, but the relationship is not linear</a:t>
            </a:r>
            <a:endParaRPr sz="1200">
              <a:latin typeface="Figtree"/>
              <a:ea typeface="Figtree"/>
              <a:cs typeface="Figtree"/>
              <a:sym typeface="Figtree"/>
            </a:endParaRPr>
          </a:p>
          <a:p>
            <a:pPr indent="0" lvl="0" marL="0" rtl="0" algn="l">
              <a:spcBef>
                <a:spcPts val="0"/>
              </a:spcBef>
              <a:spcAft>
                <a:spcPts val="0"/>
              </a:spcAft>
              <a:buClr>
                <a:schemeClr val="lt1"/>
              </a:buClr>
              <a:buSzPts val="1100"/>
              <a:buNone/>
            </a:pPr>
            <a:r>
              <a:t/>
            </a:r>
            <a:endParaRPr sz="1200">
              <a:latin typeface="Figtree"/>
              <a:ea typeface="Figtree"/>
              <a:cs typeface="Figtree"/>
              <a:sym typeface="Figtree"/>
            </a:endParaRPr>
          </a:p>
          <a:p>
            <a:pPr indent="0" lvl="0" marL="0" rtl="0" algn="l">
              <a:spcBef>
                <a:spcPts val="0"/>
              </a:spcBef>
              <a:spcAft>
                <a:spcPts val="0"/>
              </a:spcAft>
              <a:buClr>
                <a:schemeClr val="lt1"/>
              </a:buClr>
              <a:buSzPts val="1100"/>
              <a:buNone/>
            </a:pPr>
            <a:r>
              <a:rPr lang="en" sz="1200">
                <a:latin typeface="Figtree"/>
                <a:ea typeface="Figtree"/>
                <a:cs typeface="Figtree"/>
                <a:sym typeface="Figtree"/>
              </a:rPr>
              <a:t>Several high Aerial markets continued to perform well</a:t>
            </a:r>
            <a:endParaRPr sz="1200">
              <a:latin typeface="Figtree"/>
              <a:ea typeface="Figtree"/>
              <a:cs typeface="Figtree"/>
              <a:sym typeface="Figtree"/>
            </a:endParaRPr>
          </a:p>
          <a:p>
            <a:pPr indent="0" lvl="0" marL="0" rtl="0" algn="l">
              <a:spcBef>
                <a:spcPts val="0"/>
              </a:spcBef>
              <a:spcAft>
                <a:spcPts val="0"/>
              </a:spcAft>
              <a:buClr>
                <a:schemeClr val="lt1"/>
              </a:buClr>
              <a:buSzPts val="1100"/>
              <a:buNone/>
            </a:pPr>
            <a:r>
              <a:t/>
            </a:r>
            <a:endParaRPr sz="1200">
              <a:latin typeface="Figtree"/>
              <a:ea typeface="Figtree"/>
              <a:cs typeface="Figtree"/>
              <a:sym typeface="Figtree"/>
            </a:endParaRPr>
          </a:p>
          <a:p>
            <a:pPr indent="0" lvl="0" marL="0" rtl="0" algn="l">
              <a:spcBef>
                <a:spcPts val="0"/>
              </a:spcBef>
              <a:spcAft>
                <a:spcPts val="0"/>
              </a:spcAft>
              <a:buClr>
                <a:schemeClr val="lt1"/>
              </a:buClr>
              <a:buSzPts val="1100"/>
              <a:buNone/>
            </a:pPr>
            <a:r>
              <a:rPr lang="en" sz="1200">
                <a:latin typeface="Figtree"/>
                <a:ea typeface="Figtree"/>
                <a:cs typeface="Figtree"/>
                <a:sym typeface="Figtree"/>
              </a:rPr>
              <a:t>There hasn’t been as much investment in any of the large markets in dirt as there has been in aerial, with the exception of Nashville. </a:t>
            </a:r>
            <a:endParaRPr sz="1200">
              <a:latin typeface="Figtree"/>
              <a:ea typeface="Figtree"/>
              <a:cs typeface="Figtree"/>
              <a:sym typeface="Figtree"/>
            </a:endParaRPr>
          </a:p>
          <a:p>
            <a:pPr indent="0" lvl="0" marL="0" rtl="0" algn="l">
              <a:spcBef>
                <a:spcPts val="0"/>
              </a:spcBef>
              <a:spcAft>
                <a:spcPts val="0"/>
              </a:spcAft>
              <a:buClr>
                <a:schemeClr val="lt1"/>
              </a:buClr>
              <a:buSzPts val="1100"/>
              <a:buNone/>
            </a:pPr>
            <a:r>
              <a:t/>
            </a:r>
            <a:endParaRPr sz="1200">
              <a:latin typeface="Figtree"/>
              <a:ea typeface="Figtree"/>
              <a:cs typeface="Figtree"/>
              <a:sym typeface="Figtree"/>
            </a:endParaRPr>
          </a:p>
          <a:p>
            <a:pPr indent="0" lvl="0" marL="0" rtl="0" algn="l">
              <a:spcBef>
                <a:spcPts val="0"/>
              </a:spcBef>
              <a:spcAft>
                <a:spcPts val="0"/>
              </a:spcAft>
              <a:buClr>
                <a:schemeClr val="lt1"/>
              </a:buClr>
              <a:buSzPts val="1100"/>
              <a:buNone/>
            </a:pPr>
            <a:r>
              <a:t/>
            </a:r>
            <a:endParaRPr sz="1200">
              <a:latin typeface="Figtree"/>
              <a:ea typeface="Figtree"/>
              <a:cs typeface="Figtree"/>
              <a:sym typeface="Figtree"/>
            </a:endParaRPr>
          </a:p>
          <a:p>
            <a:pPr indent="0" lvl="0" marL="0" rtl="0" algn="l">
              <a:spcBef>
                <a:spcPts val="0"/>
              </a:spcBef>
              <a:spcAft>
                <a:spcPts val="0"/>
              </a:spcAft>
              <a:buClr>
                <a:schemeClr val="lt1"/>
              </a:buClr>
              <a:buSzPts val="1100"/>
              <a:buNone/>
            </a:pPr>
            <a:r>
              <a:t/>
            </a:r>
            <a:endParaRPr sz="1200">
              <a:latin typeface="Figtree"/>
              <a:ea typeface="Figtree"/>
              <a:cs typeface="Figtree"/>
              <a:sym typeface="Figtree"/>
            </a:endParaRPr>
          </a:p>
        </p:txBody>
      </p:sp>
      <p:pic>
        <p:nvPicPr>
          <p:cNvPr id="540" name="Google Shape;540;p66"/>
          <p:cNvPicPr preferRelativeResize="0"/>
          <p:nvPr/>
        </p:nvPicPr>
        <p:blipFill>
          <a:blip r:embed="rId3">
            <a:alphaModFix/>
          </a:blip>
          <a:stretch>
            <a:fillRect/>
          </a:stretch>
        </p:blipFill>
        <p:spPr>
          <a:xfrm>
            <a:off x="4070000" y="1482275"/>
            <a:ext cx="3841800" cy="3523249"/>
          </a:xfrm>
          <a:prstGeom prst="rect">
            <a:avLst/>
          </a:prstGeom>
          <a:noFill/>
          <a:ln>
            <a:noFill/>
          </a:ln>
        </p:spPr>
      </p:pic>
      <p:pic>
        <p:nvPicPr>
          <p:cNvPr id="541" name="Google Shape;541;p66"/>
          <p:cNvPicPr preferRelativeResize="0"/>
          <p:nvPr/>
        </p:nvPicPr>
        <p:blipFill>
          <a:blip r:embed="rId4">
            <a:alphaModFix/>
          </a:blip>
          <a:stretch>
            <a:fillRect/>
          </a:stretch>
        </p:blipFill>
        <p:spPr>
          <a:xfrm>
            <a:off x="3498725" y="228600"/>
            <a:ext cx="4984346" cy="6729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67"/>
          <p:cNvSpPr txBox="1"/>
          <p:nvPr>
            <p:ph idx="3" type="title"/>
          </p:nvPr>
        </p:nvSpPr>
        <p:spPr>
          <a:xfrm>
            <a:off x="275787" y="1152350"/>
            <a:ext cx="2378700" cy="34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Financial Utilization by Market</a:t>
            </a:r>
            <a:endParaRPr/>
          </a:p>
        </p:txBody>
      </p:sp>
      <p:sp>
        <p:nvSpPr>
          <p:cNvPr id="547" name="Google Shape;547;p67"/>
          <p:cNvSpPr txBox="1"/>
          <p:nvPr>
            <p:ph idx="15" type="body"/>
          </p:nvPr>
        </p:nvSpPr>
        <p:spPr>
          <a:xfrm>
            <a:off x="414750" y="1895400"/>
            <a:ext cx="2378700" cy="36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Dirt wins in Financial Utilization every time except NYC</a:t>
            </a:r>
            <a:endParaRPr/>
          </a:p>
        </p:txBody>
      </p:sp>
      <p:pic>
        <p:nvPicPr>
          <p:cNvPr id="548" name="Google Shape;548;p67"/>
          <p:cNvPicPr preferRelativeResize="0"/>
          <p:nvPr/>
        </p:nvPicPr>
        <p:blipFill>
          <a:blip r:embed="rId3">
            <a:alphaModFix/>
          </a:blip>
          <a:stretch>
            <a:fillRect/>
          </a:stretch>
        </p:blipFill>
        <p:spPr>
          <a:xfrm>
            <a:off x="3191250" y="431313"/>
            <a:ext cx="5772800" cy="42808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68"/>
          <p:cNvSpPr txBox="1"/>
          <p:nvPr>
            <p:ph idx="3" type="title"/>
          </p:nvPr>
        </p:nvSpPr>
        <p:spPr>
          <a:xfrm>
            <a:off x="275787" y="1152350"/>
            <a:ext cx="2378700" cy="34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Investment vs Revenue Mix</a:t>
            </a:r>
            <a:endParaRPr/>
          </a:p>
        </p:txBody>
      </p:sp>
      <p:sp>
        <p:nvSpPr>
          <p:cNvPr id="554" name="Google Shape;554;p68"/>
          <p:cNvSpPr txBox="1"/>
          <p:nvPr>
            <p:ph idx="15" type="body"/>
          </p:nvPr>
        </p:nvSpPr>
        <p:spPr>
          <a:xfrm>
            <a:off x="414750" y="1895400"/>
            <a:ext cx="2378700" cy="147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Chicago, NYC, Houston, &amp; Orlando are fairly equal between Dirt &amp; Aerial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Dirt is performing </a:t>
            </a:r>
            <a:r>
              <a:rPr lang="en"/>
              <a:t>better</a:t>
            </a:r>
            <a:r>
              <a:rPr lang="en"/>
              <a:t> in Nashville, Salt Lake City, Phoenix, Los Angeles, Boston, Louisville</a:t>
            </a:r>
            <a:endParaRPr/>
          </a:p>
        </p:txBody>
      </p:sp>
      <p:pic>
        <p:nvPicPr>
          <p:cNvPr id="555" name="Google Shape;555;p68"/>
          <p:cNvPicPr preferRelativeResize="0"/>
          <p:nvPr/>
        </p:nvPicPr>
        <p:blipFill>
          <a:blip r:embed="rId3">
            <a:alphaModFix/>
          </a:blip>
          <a:stretch>
            <a:fillRect/>
          </a:stretch>
        </p:blipFill>
        <p:spPr>
          <a:xfrm>
            <a:off x="3147338" y="434733"/>
            <a:ext cx="5860624" cy="427404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9"/>
          <p:cNvSpPr/>
          <p:nvPr/>
        </p:nvSpPr>
        <p:spPr>
          <a:xfrm>
            <a:off x="2435534" y="1620000"/>
            <a:ext cx="2075400" cy="3247800"/>
          </a:xfrm>
          <a:prstGeom prst="roundRect">
            <a:avLst>
              <a:gd fmla="val 4989" name="adj"/>
            </a:avLst>
          </a:prstGeom>
          <a:solidFill>
            <a:schemeClr val="lt1"/>
          </a:solidFill>
          <a:ln>
            <a:noFill/>
          </a:ln>
          <a:effectLst>
            <a:outerShdw blurRad="171450" rotWithShape="0" algn="bl" dir="5400000" dist="19050">
              <a:schemeClr val="dk2">
                <a:alpha val="4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61" name="Google Shape;561;p69"/>
          <p:cNvSpPr/>
          <p:nvPr/>
        </p:nvSpPr>
        <p:spPr>
          <a:xfrm>
            <a:off x="6840001" y="1620000"/>
            <a:ext cx="2075400" cy="3247800"/>
          </a:xfrm>
          <a:prstGeom prst="roundRect">
            <a:avLst>
              <a:gd fmla="val 4989" name="adj"/>
            </a:avLst>
          </a:prstGeom>
          <a:solidFill>
            <a:schemeClr val="lt1"/>
          </a:solidFill>
          <a:ln>
            <a:noFill/>
          </a:ln>
          <a:effectLst>
            <a:outerShdw blurRad="171450" rotWithShape="0" algn="bl" dir="5400000" dist="19050">
              <a:schemeClr val="dk2">
                <a:alpha val="4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62" name="Google Shape;562;p69"/>
          <p:cNvSpPr/>
          <p:nvPr/>
        </p:nvSpPr>
        <p:spPr>
          <a:xfrm>
            <a:off x="233300" y="1060850"/>
            <a:ext cx="2075400" cy="3247800"/>
          </a:xfrm>
          <a:prstGeom prst="roundRect">
            <a:avLst>
              <a:gd fmla="val 4989" name="adj"/>
            </a:avLst>
          </a:prstGeom>
          <a:solidFill>
            <a:schemeClr val="lt1"/>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63" name="Google Shape;563;p69"/>
          <p:cNvSpPr/>
          <p:nvPr/>
        </p:nvSpPr>
        <p:spPr>
          <a:xfrm>
            <a:off x="4637767" y="1060850"/>
            <a:ext cx="2075400" cy="3247800"/>
          </a:xfrm>
          <a:prstGeom prst="roundRect">
            <a:avLst>
              <a:gd fmla="val 4989" name="adj"/>
            </a:avLst>
          </a:prstGeom>
          <a:solidFill>
            <a:schemeClr val="lt1"/>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64" name="Google Shape;564;p69"/>
          <p:cNvSpPr txBox="1"/>
          <p:nvPr>
            <p:ph idx="3"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Recommendations With Annual Rev Impact</a:t>
            </a:r>
            <a:endParaRPr/>
          </a:p>
        </p:txBody>
      </p:sp>
      <p:sp>
        <p:nvSpPr>
          <p:cNvPr id="565" name="Google Shape;565;p69"/>
          <p:cNvSpPr txBox="1"/>
          <p:nvPr>
            <p:ph idx="1" type="body"/>
          </p:nvPr>
        </p:nvSpPr>
        <p:spPr>
          <a:xfrm>
            <a:off x="429375" y="1801500"/>
            <a:ext cx="1683300" cy="7140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Los Angeles - $114K</a:t>
            </a:r>
            <a:endParaRPr/>
          </a:p>
          <a:p>
            <a:pPr indent="-177800" lvl="0" marL="285750" rtl="0" algn="l">
              <a:spcBef>
                <a:spcPts val="1000"/>
              </a:spcBef>
              <a:spcAft>
                <a:spcPts val="1000"/>
              </a:spcAft>
              <a:buSzPts val="1000"/>
              <a:buChar char="⟶"/>
            </a:pPr>
            <a:r>
              <a:rPr lang="en"/>
              <a:t>Nashville - $168K</a:t>
            </a:r>
            <a:endParaRPr/>
          </a:p>
        </p:txBody>
      </p:sp>
      <p:sp>
        <p:nvSpPr>
          <p:cNvPr id="566" name="Google Shape;566;p69"/>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Scale &amp; Increase Dirt by 10%</a:t>
            </a:r>
            <a:endParaRPr/>
          </a:p>
        </p:txBody>
      </p:sp>
      <p:sp>
        <p:nvSpPr>
          <p:cNvPr id="567" name="Google Shape;567;p69"/>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Houston - not a large difference between equipment classes</a:t>
            </a:r>
            <a:endParaRPr/>
          </a:p>
          <a:p>
            <a:pPr indent="-177800" lvl="0" marL="285750" rtl="0" algn="l">
              <a:spcBef>
                <a:spcPts val="1000"/>
              </a:spcBef>
              <a:spcAft>
                <a:spcPts val="1000"/>
              </a:spcAft>
              <a:buSzPts val="1000"/>
              <a:buChar char="⟶"/>
            </a:pPr>
            <a:r>
              <a:rPr lang="en"/>
              <a:t>Hard to predict the impact with very low investment in dirt</a:t>
            </a:r>
            <a:endParaRPr/>
          </a:p>
        </p:txBody>
      </p:sp>
      <p:sp>
        <p:nvSpPr>
          <p:cNvPr id="568" name="Google Shape;568;p69"/>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Increase Dirt by 5%</a:t>
            </a:r>
            <a:endParaRPr/>
          </a:p>
        </p:txBody>
      </p:sp>
      <p:sp>
        <p:nvSpPr>
          <p:cNvPr id="569" name="Google Shape;569;p69"/>
          <p:cNvSpPr txBox="1"/>
          <p:nvPr>
            <p:ph idx="7" type="body"/>
          </p:nvPr>
        </p:nvSpPr>
        <p:spPr>
          <a:xfrm>
            <a:off x="2631600" y="2360650"/>
            <a:ext cx="1683300" cy="16719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Salt Lake City - $70K</a:t>
            </a:r>
            <a:endParaRPr/>
          </a:p>
          <a:p>
            <a:pPr indent="-177800" lvl="0" marL="285750" rtl="0" algn="l">
              <a:spcBef>
                <a:spcPts val="1000"/>
              </a:spcBef>
              <a:spcAft>
                <a:spcPts val="0"/>
              </a:spcAft>
              <a:buSzPts val="1000"/>
              <a:buChar char="⟶"/>
            </a:pPr>
            <a:r>
              <a:rPr lang="en"/>
              <a:t>Phoenix - $39K </a:t>
            </a:r>
            <a:endParaRPr/>
          </a:p>
          <a:p>
            <a:pPr indent="-177800" lvl="0" marL="285750" rtl="0" algn="l">
              <a:spcBef>
                <a:spcPts val="1000"/>
              </a:spcBef>
              <a:spcAft>
                <a:spcPts val="0"/>
              </a:spcAft>
              <a:buSzPts val="1000"/>
              <a:buChar char="⟶"/>
            </a:pPr>
            <a:r>
              <a:rPr lang="en"/>
              <a:t>Boston - $33K</a:t>
            </a:r>
            <a:endParaRPr/>
          </a:p>
          <a:p>
            <a:pPr indent="-177800" lvl="0" marL="285750" rtl="0" algn="l">
              <a:spcBef>
                <a:spcPts val="1000"/>
              </a:spcBef>
              <a:spcAft>
                <a:spcPts val="0"/>
              </a:spcAft>
              <a:buSzPts val="1000"/>
              <a:buChar char="⟶"/>
            </a:pPr>
            <a:r>
              <a:rPr lang="en"/>
              <a:t>Louisville - $38K</a:t>
            </a:r>
            <a:endParaRPr/>
          </a:p>
          <a:p>
            <a:pPr indent="-177800" lvl="0" marL="285750" rtl="0" algn="l">
              <a:spcBef>
                <a:spcPts val="1000"/>
              </a:spcBef>
              <a:spcAft>
                <a:spcPts val="0"/>
              </a:spcAft>
              <a:buSzPts val="1000"/>
              <a:buChar char="⟶"/>
            </a:pPr>
            <a:r>
              <a:rPr lang="en"/>
              <a:t>Orlando - $60K</a:t>
            </a:r>
            <a:endParaRPr/>
          </a:p>
          <a:p>
            <a:pPr indent="0" lvl="0" marL="457200" rtl="0" algn="l">
              <a:spcBef>
                <a:spcPts val="1000"/>
              </a:spcBef>
              <a:spcAft>
                <a:spcPts val="1000"/>
              </a:spcAft>
              <a:buNone/>
            </a:pPr>
            <a:r>
              <a:t/>
            </a:r>
            <a:endParaRPr/>
          </a:p>
        </p:txBody>
      </p:sp>
      <p:sp>
        <p:nvSpPr>
          <p:cNvPr id="570" name="Google Shape;570;p69"/>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Increase Dirt by 10%</a:t>
            </a:r>
            <a:endParaRPr/>
          </a:p>
        </p:txBody>
      </p:sp>
      <p:sp>
        <p:nvSpPr>
          <p:cNvPr id="571" name="Google Shape;571;p69"/>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Chicago</a:t>
            </a:r>
            <a:endParaRPr/>
          </a:p>
          <a:p>
            <a:pPr indent="-177800" lvl="0" marL="285750" rtl="0" algn="l">
              <a:spcBef>
                <a:spcPts val="1000"/>
              </a:spcBef>
              <a:spcAft>
                <a:spcPts val="1000"/>
              </a:spcAft>
              <a:buSzPts val="1000"/>
              <a:buChar char="⟶"/>
            </a:pPr>
            <a:r>
              <a:rPr lang="en"/>
              <a:t>New York City</a:t>
            </a:r>
            <a:endParaRPr/>
          </a:p>
        </p:txBody>
      </p:sp>
      <p:sp>
        <p:nvSpPr>
          <p:cNvPr id="572" name="Google Shape;572;p69"/>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Maintain Current Mix</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0"/>
          <p:cNvSpPr/>
          <p:nvPr/>
        </p:nvSpPr>
        <p:spPr>
          <a:xfrm>
            <a:off x="4642448" y="460400"/>
            <a:ext cx="4269000" cy="4228800"/>
          </a:xfrm>
          <a:prstGeom prst="roundRect">
            <a:avLst>
              <a:gd fmla="val 3638" name="adj"/>
            </a:avLst>
          </a:prstGeom>
          <a:solidFill>
            <a:schemeClr val="lt1"/>
          </a:solidFill>
          <a:ln>
            <a:noFill/>
          </a:ln>
          <a:effectLst>
            <a:outerShdw blurRad="157163" rotWithShape="0" algn="bl" dir="13140000" dist="9525">
              <a:schemeClr val="lt2">
                <a:alpha val="58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78" name="Google Shape;578;p70"/>
          <p:cNvSpPr/>
          <p:nvPr/>
        </p:nvSpPr>
        <p:spPr>
          <a:xfrm>
            <a:off x="4642598" y="454300"/>
            <a:ext cx="4269000" cy="928500"/>
          </a:xfrm>
          <a:prstGeom prst="roundRect">
            <a:avLst>
              <a:gd fmla="val 8990" name="adj"/>
            </a:avLst>
          </a:prstGeom>
          <a:gradFill>
            <a:gsLst>
              <a:gs pos="0">
                <a:schemeClr val="lt2"/>
              </a:gs>
              <a:gs pos="100000">
                <a:schemeClr val="accent6"/>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579" name="Google Shape;579;p70"/>
          <p:cNvSpPr/>
          <p:nvPr/>
        </p:nvSpPr>
        <p:spPr>
          <a:xfrm>
            <a:off x="232400" y="460400"/>
            <a:ext cx="4269000" cy="4228800"/>
          </a:xfrm>
          <a:prstGeom prst="roundRect">
            <a:avLst>
              <a:gd fmla="val 3638" name="adj"/>
            </a:avLst>
          </a:prstGeom>
          <a:solidFill>
            <a:schemeClr val="lt1"/>
          </a:solidFill>
          <a:ln>
            <a:noFill/>
          </a:ln>
          <a:effectLst>
            <a:outerShdw blurRad="157163" rotWithShape="0" algn="bl" dir="13140000" dist="9525">
              <a:schemeClr val="lt2">
                <a:alpha val="58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80" name="Google Shape;580;p70"/>
          <p:cNvSpPr/>
          <p:nvPr/>
        </p:nvSpPr>
        <p:spPr>
          <a:xfrm>
            <a:off x="232400" y="454300"/>
            <a:ext cx="4269000" cy="928500"/>
          </a:xfrm>
          <a:prstGeom prst="roundRect">
            <a:avLst>
              <a:gd fmla="val 8990" name="adj"/>
            </a:avLst>
          </a:prstGeom>
          <a:gradFill>
            <a:gsLst>
              <a:gs pos="0">
                <a:schemeClr val="accent4"/>
              </a:gs>
              <a:gs pos="50000">
                <a:schemeClr val="lt2"/>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581" name="Google Shape;581;p70"/>
          <p:cNvSpPr txBox="1"/>
          <p:nvPr>
            <p:ph type="title"/>
          </p:nvPr>
        </p:nvSpPr>
        <p:spPr>
          <a:xfrm>
            <a:off x="228600" y="74250"/>
            <a:ext cx="2500500" cy="30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2200"/>
              <a:t>Future Analysis</a:t>
            </a:r>
            <a:endParaRPr sz="2200"/>
          </a:p>
        </p:txBody>
      </p:sp>
      <p:sp>
        <p:nvSpPr>
          <p:cNvPr id="582" name="Google Shape;582;p70"/>
          <p:cNvSpPr txBox="1"/>
          <p:nvPr>
            <p:ph idx="3" type="subTitle"/>
          </p:nvPr>
        </p:nvSpPr>
        <p:spPr>
          <a:xfrm>
            <a:off x="412613" y="553150"/>
            <a:ext cx="3670500" cy="43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700"/>
              <a:t>Additional Variables</a:t>
            </a:r>
            <a:endParaRPr sz="1700"/>
          </a:p>
        </p:txBody>
      </p:sp>
      <p:sp>
        <p:nvSpPr>
          <p:cNvPr id="583" name="Google Shape;583;p70"/>
          <p:cNvSpPr txBox="1"/>
          <p:nvPr>
            <p:ph idx="4" type="body"/>
          </p:nvPr>
        </p:nvSpPr>
        <p:spPr>
          <a:xfrm>
            <a:off x="460632" y="1519350"/>
            <a:ext cx="3790200" cy="36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Several variables could be impacting the analysis that are not currently available in this dataset</a:t>
            </a:r>
            <a:endParaRPr sz="1200"/>
          </a:p>
        </p:txBody>
      </p:sp>
      <p:sp>
        <p:nvSpPr>
          <p:cNvPr id="584" name="Google Shape;584;p70"/>
          <p:cNvSpPr txBox="1"/>
          <p:nvPr>
            <p:ph idx="5" type="subTitle"/>
          </p:nvPr>
        </p:nvSpPr>
        <p:spPr>
          <a:xfrm>
            <a:off x="4830379" y="553150"/>
            <a:ext cx="3670500" cy="43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700"/>
              <a:t>Forecasting</a:t>
            </a:r>
            <a:endParaRPr sz="1700"/>
          </a:p>
        </p:txBody>
      </p:sp>
      <p:sp>
        <p:nvSpPr>
          <p:cNvPr id="585" name="Google Shape;585;p70"/>
          <p:cNvSpPr txBox="1"/>
          <p:nvPr>
            <p:ph idx="1" type="body"/>
          </p:nvPr>
        </p:nvSpPr>
        <p:spPr>
          <a:xfrm>
            <a:off x="4878371" y="1519350"/>
            <a:ext cx="3790200" cy="36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If we opened a new market today, where should it be and where </a:t>
            </a:r>
            <a:r>
              <a:rPr lang="en" sz="1200"/>
              <a:t>should we put our initial investments? </a:t>
            </a:r>
            <a:endParaRPr sz="1400"/>
          </a:p>
        </p:txBody>
      </p:sp>
      <p:sp>
        <p:nvSpPr>
          <p:cNvPr id="586" name="Google Shape;586;p70"/>
          <p:cNvSpPr txBox="1"/>
          <p:nvPr>
            <p:ph idx="4" type="body"/>
          </p:nvPr>
        </p:nvSpPr>
        <p:spPr>
          <a:xfrm>
            <a:off x="460632" y="2352900"/>
            <a:ext cx="3790200" cy="1847100"/>
          </a:xfrm>
          <a:prstGeom prst="rect">
            <a:avLst/>
          </a:prstGeom>
        </p:spPr>
        <p:txBody>
          <a:bodyPr anchorCtr="0" anchor="t" bIns="0" lIns="0" spcFirstLastPara="1" rIns="0" wrap="square" tIns="0">
            <a:spAutoFit/>
          </a:bodyPr>
          <a:lstStyle/>
          <a:p>
            <a:pPr indent="-304800" lvl="0" marL="457200" rtl="0" algn="l">
              <a:spcBef>
                <a:spcPts val="0"/>
              </a:spcBef>
              <a:spcAft>
                <a:spcPts val="0"/>
              </a:spcAft>
              <a:buSzPts val="1200"/>
              <a:buChar char="➔"/>
            </a:pPr>
            <a:r>
              <a:rPr lang="en" sz="1200"/>
              <a:t>Geographic variables</a:t>
            </a:r>
            <a:endParaRPr sz="1200"/>
          </a:p>
          <a:p>
            <a:pPr indent="-304800" lvl="1" marL="914400" rtl="0" algn="l">
              <a:spcBef>
                <a:spcPts val="0"/>
              </a:spcBef>
              <a:spcAft>
                <a:spcPts val="0"/>
              </a:spcAft>
              <a:buSzPts val="1200"/>
              <a:buChar char="◆"/>
            </a:pPr>
            <a:r>
              <a:rPr lang="en" sz="1200"/>
              <a:t>Suburban vs rural</a:t>
            </a:r>
            <a:endParaRPr sz="1200"/>
          </a:p>
          <a:p>
            <a:pPr indent="-304800" lvl="1" marL="914400" rtl="0" algn="l">
              <a:spcBef>
                <a:spcPts val="0"/>
              </a:spcBef>
              <a:spcAft>
                <a:spcPts val="0"/>
              </a:spcAft>
              <a:buSzPts val="1200"/>
              <a:buChar char="◆"/>
            </a:pPr>
            <a:r>
              <a:rPr lang="en" sz="1200"/>
              <a:t>Major cities</a:t>
            </a:r>
            <a:endParaRPr sz="1200"/>
          </a:p>
          <a:p>
            <a:pPr indent="-304800" lvl="1" marL="914400" rtl="0" algn="l">
              <a:spcBef>
                <a:spcPts val="0"/>
              </a:spcBef>
              <a:spcAft>
                <a:spcPts val="0"/>
              </a:spcAft>
              <a:buSzPts val="1200"/>
              <a:buChar char="◆"/>
            </a:pPr>
            <a:r>
              <a:rPr lang="en" sz="1200"/>
              <a:t>Climate</a:t>
            </a:r>
            <a:endParaRPr sz="1200"/>
          </a:p>
          <a:p>
            <a:pPr indent="-304800" lvl="0" marL="457200" rtl="0" algn="l">
              <a:spcBef>
                <a:spcPts val="0"/>
              </a:spcBef>
              <a:spcAft>
                <a:spcPts val="0"/>
              </a:spcAft>
              <a:buSzPts val="1200"/>
              <a:buChar char="➔"/>
            </a:pPr>
            <a:r>
              <a:rPr lang="en" sz="1200"/>
              <a:t>Type of equipment</a:t>
            </a:r>
            <a:endParaRPr sz="1200"/>
          </a:p>
          <a:p>
            <a:pPr indent="-304800" lvl="1" marL="914400" rtl="0" algn="l">
              <a:spcBef>
                <a:spcPts val="0"/>
              </a:spcBef>
              <a:spcAft>
                <a:spcPts val="0"/>
              </a:spcAft>
              <a:buSzPts val="1200"/>
              <a:buChar char="◆"/>
            </a:pPr>
            <a:r>
              <a:rPr lang="en" sz="1200"/>
              <a:t>Skid steer vs excavators</a:t>
            </a:r>
            <a:endParaRPr sz="1200"/>
          </a:p>
          <a:p>
            <a:pPr indent="-304800" lvl="0" marL="457200" rtl="0" algn="l">
              <a:spcBef>
                <a:spcPts val="0"/>
              </a:spcBef>
              <a:spcAft>
                <a:spcPts val="0"/>
              </a:spcAft>
              <a:buSzPts val="1200"/>
              <a:buChar char="➔"/>
            </a:pPr>
            <a:r>
              <a:rPr lang="en" sz="1200"/>
              <a:t>Additional costs</a:t>
            </a:r>
            <a:endParaRPr sz="1200"/>
          </a:p>
          <a:p>
            <a:pPr indent="-304800" lvl="1" marL="914400" rtl="0" algn="l">
              <a:spcBef>
                <a:spcPts val="0"/>
              </a:spcBef>
              <a:spcAft>
                <a:spcPts val="0"/>
              </a:spcAft>
              <a:buSzPts val="1200"/>
              <a:buChar char="◆"/>
            </a:pPr>
            <a:r>
              <a:rPr lang="en" sz="1200"/>
              <a:t>Maintenance frequency</a:t>
            </a:r>
            <a:endParaRPr sz="1200"/>
          </a:p>
          <a:p>
            <a:pPr indent="-304800" lvl="1" marL="914400" rtl="0" algn="l">
              <a:spcBef>
                <a:spcPts val="0"/>
              </a:spcBef>
              <a:spcAft>
                <a:spcPts val="0"/>
              </a:spcAft>
              <a:buSzPts val="1200"/>
              <a:buChar char="◆"/>
            </a:pPr>
            <a:r>
              <a:rPr lang="en" sz="1200"/>
              <a:t>Maintenance cost</a:t>
            </a:r>
            <a:endParaRPr sz="1200"/>
          </a:p>
          <a:p>
            <a:pPr indent="-304800" lvl="1" marL="914400" rtl="0" algn="l">
              <a:spcBef>
                <a:spcPts val="0"/>
              </a:spcBef>
              <a:spcAft>
                <a:spcPts val="0"/>
              </a:spcAft>
              <a:buSzPts val="1200"/>
              <a:buChar char="◆"/>
            </a:pPr>
            <a:r>
              <a:rPr lang="en" sz="1200"/>
              <a:t>Advertisement</a:t>
            </a:r>
            <a:endParaRPr sz="1200"/>
          </a:p>
        </p:txBody>
      </p:sp>
      <p:sp>
        <p:nvSpPr>
          <p:cNvPr id="587" name="Google Shape;587;p70"/>
          <p:cNvSpPr txBox="1"/>
          <p:nvPr>
            <p:ph idx="4" type="body"/>
          </p:nvPr>
        </p:nvSpPr>
        <p:spPr>
          <a:xfrm>
            <a:off x="4805549" y="2352900"/>
            <a:ext cx="3790200" cy="1436700"/>
          </a:xfrm>
          <a:prstGeom prst="rect">
            <a:avLst/>
          </a:prstGeom>
        </p:spPr>
        <p:txBody>
          <a:bodyPr anchorCtr="0" anchor="t" bIns="0" lIns="0" spcFirstLastPara="1" rIns="0" wrap="square" tIns="0">
            <a:spAutoFit/>
          </a:bodyPr>
          <a:lstStyle/>
          <a:p>
            <a:pPr indent="-177800" lvl="0" marL="285750" rtl="0" algn="l">
              <a:spcBef>
                <a:spcPts val="0"/>
              </a:spcBef>
              <a:spcAft>
                <a:spcPts val="0"/>
              </a:spcAft>
              <a:buSzPts val="1000"/>
              <a:buChar char="⟶"/>
            </a:pPr>
            <a:r>
              <a:rPr lang="en"/>
              <a:t>More variables may lead to better modeling</a:t>
            </a:r>
            <a:endParaRPr/>
          </a:p>
          <a:p>
            <a:pPr indent="-177800" lvl="0" marL="285750" rtl="0" algn="l">
              <a:spcBef>
                <a:spcPts val="1000"/>
              </a:spcBef>
              <a:spcAft>
                <a:spcPts val="0"/>
              </a:spcAft>
              <a:buSzPts val="1000"/>
              <a:buChar char="⟶"/>
            </a:pPr>
            <a:r>
              <a:rPr lang="en"/>
              <a:t>Is there an area of the country we do best in?</a:t>
            </a:r>
            <a:endParaRPr/>
          </a:p>
          <a:p>
            <a:pPr indent="-177800" lvl="0" marL="285750" rtl="0" algn="l">
              <a:spcBef>
                <a:spcPts val="1000"/>
              </a:spcBef>
              <a:spcAft>
                <a:spcPts val="0"/>
              </a:spcAft>
              <a:buSzPts val="1000"/>
              <a:buChar char="⟶"/>
            </a:pPr>
            <a:r>
              <a:rPr lang="en"/>
              <a:t>Do we do better in major cities than in rural areas?</a:t>
            </a:r>
            <a:endParaRPr/>
          </a:p>
          <a:p>
            <a:pPr indent="-177800" lvl="0" marL="285750" rtl="0" algn="l">
              <a:spcBef>
                <a:spcPts val="1000"/>
              </a:spcBef>
              <a:spcAft>
                <a:spcPts val="0"/>
              </a:spcAft>
              <a:buSzPts val="1000"/>
              <a:buChar char="⟶"/>
            </a:pPr>
            <a:r>
              <a:rPr lang="en"/>
              <a:t>Do certain types of equipment do really well in certain areas?</a:t>
            </a:r>
            <a:endParaRPr/>
          </a:p>
          <a:p>
            <a:pPr indent="-177800" lvl="0" marL="285750" rtl="0" algn="l">
              <a:spcBef>
                <a:spcPts val="1000"/>
              </a:spcBef>
              <a:spcAft>
                <a:spcPts val="1000"/>
              </a:spcAft>
              <a:buSzPts val="1000"/>
              <a:buChar char="⟶"/>
            </a:pPr>
            <a:r>
              <a:rPr lang="en"/>
              <a:t>Do certain types of equipment cost more than they are worth to maintain?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1"/>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THANK YOU</a:t>
            </a:r>
            <a:endParaRPr/>
          </a:p>
        </p:txBody>
      </p:sp>
      <p:sp>
        <p:nvSpPr>
          <p:cNvPr id="593" name="Google Shape;593;p71"/>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